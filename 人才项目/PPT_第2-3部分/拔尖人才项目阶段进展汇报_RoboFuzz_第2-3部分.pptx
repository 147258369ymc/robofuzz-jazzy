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media/image1.jpeg" ContentType="image/jpeg"/>
  <Override PartName="/ppt/media/image5.png" ContentType="image/png"/>
  <Override PartName="/ppt/media/image2.png" ContentType="image/png"/>
  <Override PartName="/ppt/media/image3.png" ContentType="image/png"/>
  <Override PartName="/ppt/media/image4.png" ContentType="image/png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7099300" cy="102346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36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 type="dt" idx="1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 type="ftr" idx="1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31" name="PlaceHolder 6"/>
          <p:cNvSpPr>
            <a:spLocks noGrp="1"/>
          </p:cNvSpPr>
          <p:nvPr>
            <p:ph type="sldNum" idx="1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01DC1F90-D489-465B-B48E-5184BCAFBA77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138240" y="766800"/>
            <a:ext cx="6822720" cy="383832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709560" y="4862160"/>
            <a:ext cx="5679720" cy="4604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4680" rIns="94680" tIns="47520" bIns="4752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15"/>
          </p:nvPr>
        </p:nvSpPr>
        <p:spPr>
          <a:xfrm>
            <a:off x="4020480" y="9720720"/>
            <a:ext cx="3076920" cy="51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4680" rIns="94680" tIns="47520" bIns="47520" anchor="b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138240" y="766800"/>
            <a:ext cx="6822720" cy="383832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709560" y="4862160"/>
            <a:ext cx="5679720" cy="4604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4680" rIns="94680" tIns="47520" bIns="4752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16"/>
          </p:nvPr>
        </p:nvSpPr>
        <p:spPr>
          <a:xfrm>
            <a:off x="4020480" y="9720720"/>
            <a:ext cx="3076920" cy="51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4680" rIns="94680" tIns="47520" bIns="47520" anchor="b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138240" y="766800"/>
            <a:ext cx="6822720" cy="383832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709560" y="4862160"/>
            <a:ext cx="5679720" cy="4604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4680" rIns="94680" tIns="47520" bIns="4752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17"/>
          </p:nvPr>
        </p:nvSpPr>
        <p:spPr>
          <a:xfrm>
            <a:off x="4020480" y="9720720"/>
            <a:ext cx="3076920" cy="51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4680" rIns="94680" tIns="47520" bIns="47520" anchor="b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138240" y="766800"/>
            <a:ext cx="6822720" cy="383832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709560" y="4862160"/>
            <a:ext cx="5679720" cy="4604760"/>
          </a:xfrm>
          <a:prstGeom prst="rect">
            <a:avLst/>
          </a:prstGeom>
          <a:noFill/>
          <a:ln w="0">
            <a:noFill/>
          </a:ln>
        </p:spPr>
        <p:txBody>
          <a:bodyPr lIns="94680" rIns="94680" tIns="47520" bIns="4752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18"/>
          </p:nvPr>
        </p:nvSpPr>
        <p:spPr>
          <a:xfrm>
            <a:off x="4020480" y="9720720"/>
            <a:ext cx="3076920" cy="51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4680" rIns="94680" tIns="47520" bIns="47520" anchor="b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138240" y="766800"/>
            <a:ext cx="6822720" cy="383832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709560" y="4862160"/>
            <a:ext cx="5679720" cy="4604760"/>
          </a:xfrm>
          <a:prstGeom prst="rect">
            <a:avLst/>
          </a:prstGeom>
          <a:noFill/>
          <a:ln w="0">
            <a:noFill/>
          </a:ln>
        </p:spPr>
        <p:txBody>
          <a:bodyPr lIns="94680" rIns="94680" tIns="47520" bIns="4752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19"/>
          </p:nvPr>
        </p:nvSpPr>
        <p:spPr>
          <a:xfrm>
            <a:off x="4020480" y="9720720"/>
            <a:ext cx="3076920" cy="51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4680" rIns="94680" tIns="47520" bIns="47520" anchor="b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138240" y="766800"/>
            <a:ext cx="6822720" cy="383832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709560" y="4862160"/>
            <a:ext cx="5679720" cy="4604760"/>
          </a:xfrm>
          <a:prstGeom prst="rect">
            <a:avLst/>
          </a:prstGeom>
          <a:noFill/>
          <a:ln w="0">
            <a:noFill/>
          </a:ln>
        </p:spPr>
        <p:txBody>
          <a:bodyPr lIns="94680" rIns="94680" tIns="47520" bIns="4752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20"/>
          </p:nvPr>
        </p:nvSpPr>
        <p:spPr>
          <a:xfrm>
            <a:off x="4020480" y="9720720"/>
            <a:ext cx="3076920" cy="51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4680" rIns="94680" tIns="47520" bIns="47520" anchor="b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138240" y="766800"/>
            <a:ext cx="6822720" cy="383832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709560" y="4862160"/>
            <a:ext cx="5679720" cy="4604760"/>
          </a:xfrm>
          <a:prstGeom prst="rect">
            <a:avLst/>
          </a:prstGeom>
          <a:noFill/>
          <a:ln w="0">
            <a:noFill/>
          </a:ln>
        </p:spPr>
        <p:txBody>
          <a:bodyPr lIns="94680" rIns="94680" tIns="47520" bIns="4752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21"/>
          </p:nvPr>
        </p:nvSpPr>
        <p:spPr>
          <a:xfrm>
            <a:off x="4020480" y="9720720"/>
            <a:ext cx="3076920" cy="51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4680" rIns="94680" tIns="47520" bIns="47520" anchor="b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F5FAFA9-E761-4DB2-BF90-CB67CBEAD5E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268280"/>
            <a:ext cx="1097244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5235D2F-D37D-40C1-AC08-17BA3F8AC91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1097244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91FCD88-9C64-4B06-A9D5-65757B614F3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EA842BA-B107-4850-B7C7-33B613B4FCB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4DA1285-98DF-4E80-B4F6-B854BB1AA72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A0AD30D-C911-49D4-B488-668862592F6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09480" y="38080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6FBD81C-3CAC-435C-B01A-AC1DEBEDD6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231960" y="38080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34EF54B-02CF-41EA-B240-405E870236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09480" y="3808080"/>
            <a:ext cx="109724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2002278-1DEB-46CE-962B-EF92CE778EB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109724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09480" y="3808080"/>
            <a:ext cx="109724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97B2C8C-B082-4B51-BFD1-342C6EF63A2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/>
          </p:nvPr>
        </p:nvSpPr>
        <p:spPr>
          <a:xfrm>
            <a:off x="609480" y="38080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/>
          </p:nvPr>
        </p:nvSpPr>
        <p:spPr>
          <a:xfrm>
            <a:off x="6231960" y="38080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ABB3703-A15A-4F8A-BD77-559E0EDE78E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319640" y="12682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/>
          </p:nvPr>
        </p:nvSpPr>
        <p:spPr>
          <a:xfrm>
            <a:off x="8029800" y="12682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/>
          </p:nvPr>
        </p:nvSpPr>
        <p:spPr>
          <a:xfrm>
            <a:off x="609480" y="38080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/>
          </p:nvPr>
        </p:nvSpPr>
        <p:spPr>
          <a:xfrm>
            <a:off x="4319640" y="38080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7"/>
          <p:cNvSpPr>
            <a:spLocks noGrp="1"/>
          </p:cNvSpPr>
          <p:nvPr>
            <p:ph/>
          </p:nvPr>
        </p:nvSpPr>
        <p:spPr>
          <a:xfrm>
            <a:off x="8029800" y="38080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4606A11-3CAD-4451-93B8-C7EF5B5E147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96984B7-2996-453B-8D2F-F7B3BB0F93B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ubTitle"/>
          </p:nvPr>
        </p:nvSpPr>
        <p:spPr>
          <a:xfrm>
            <a:off x="609480" y="1268280"/>
            <a:ext cx="1097244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F347525-D84E-4A90-8BB1-628753C01B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1097244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BA6E677-039F-44C2-91AB-703295E3A15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9D7D684-029C-4BDE-9317-B261ABAF78A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3216EF1-4AA2-44BE-9AA4-260A7B8F0C6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0517AE3-00DE-4F4F-AFC4-1304CFDB919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609480" y="38080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C4AFE3C-7951-4598-8A66-5E31D241162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/>
          </p:nvPr>
        </p:nvSpPr>
        <p:spPr>
          <a:xfrm>
            <a:off x="6231960" y="38080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09C4B99-4275-496E-9104-2F1F148BA04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808080"/>
            <a:ext cx="109724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226F78CF-4987-4983-ACFC-4968B481E0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109724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09480" y="3808080"/>
            <a:ext cx="109724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52E4B13-331C-4243-8C2C-D6D0E673F86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9480" y="38080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6231960" y="38080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2340044-EFB0-4278-B8C0-3DE65694640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4319640" y="12682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/>
          </p:nvPr>
        </p:nvSpPr>
        <p:spPr>
          <a:xfrm>
            <a:off x="8029800" y="12682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/>
          </p:nvPr>
        </p:nvSpPr>
        <p:spPr>
          <a:xfrm>
            <a:off x="609480" y="38080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6"/>
          <p:cNvSpPr>
            <a:spLocks noGrp="1"/>
          </p:cNvSpPr>
          <p:nvPr>
            <p:ph/>
          </p:nvPr>
        </p:nvSpPr>
        <p:spPr>
          <a:xfrm>
            <a:off x="4319640" y="38080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7"/>
          <p:cNvSpPr>
            <a:spLocks noGrp="1"/>
          </p:cNvSpPr>
          <p:nvPr>
            <p:ph/>
          </p:nvPr>
        </p:nvSpPr>
        <p:spPr>
          <a:xfrm>
            <a:off x="8029800" y="38080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F747602-0227-4295-B7EA-8593C6D6EF0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20B3A13-F541-46F1-BF2C-847AB4CC06A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subTitle"/>
          </p:nvPr>
        </p:nvSpPr>
        <p:spPr>
          <a:xfrm>
            <a:off x="609480" y="1268280"/>
            <a:ext cx="1097244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33AC0C9-6F4F-4BF4-B042-175665FB060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1097244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DA0C8E4-B979-44DF-BB13-4113F46B078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CBA473B-CCB7-4D34-998E-7E98552DF9B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0DE9247B-A678-4ADF-9980-1DADD3B7130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084DBD9-1A41-4B53-A627-DFDE4BD09C2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/>
          </p:nvPr>
        </p:nvSpPr>
        <p:spPr>
          <a:xfrm>
            <a:off x="609480" y="38080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DEED94A-64FB-4287-B5E0-90BA8A3C0F0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48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/>
          </p:nvPr>
        </p:nvSpPr>
        <p:spPr>
          <a:xfrm>
            <a:off x="6231960" y="38080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E662218-707E-4133-A811-06231B65B2E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/>
          </p:nvPr>
        </p:nvSpPr>
        <p:spPr>
          <a:xfrm>
            <a:off x="609480" y="3808080"/>
            <a:ext cx="109724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D091745-2E4B-425A-81A6-7D3AF38869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109724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09480" y="3808080"/>
            <a:ext cx="109724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DEA8265-7691-478B-8E57-E676206D956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6231960" y="12682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/>
          </p:nvPr>
        </p:nvSpPr>
        <p:spPr>
          <a:xfrm>
            <a:off x="609480" y="38080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5"/>
          <p:cNvSpPr>
            <a:spLocks noGrp="1"/>
          </p:cNvSpPr>
          <p:nvPr>
            <p:ph/>
          </p:nvPr>
        </p:nvSpPr>
        <p:spPr>
          <a:xfrm>
            <a:off x="6231960" y="3808080"/>
            <a:ext cx="535428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B5B60FD6-6F61-4A45-B455-BF2013388B4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609480" y="12682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4319640" y="12682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8029800" y="12682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5"/>
          <p:cNvSpPr>
            <a:spLocks noGrp="1"/>
          </p:cNvSpPr>
          <p:nvPr>
            <p:ph/>
          </p:nvPr>
        </p:nvSpPr>
        <p:spPr>
          <a:xfrm>
            <a:off x="609480" y="38080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6"/>
          <p:cNvSpPr>
            <a:spLocks noGrp="1"/>
          </p:cNvSpPr>
          <p:nvPr>
            <p:ph/>
          </p:nvPr>
        </p:nvSpPr>
        <p:spPr>
          <a:xfrm>
            <a:off x="4319640" y="38080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7"/>
          <p:cNvSpPr>
            <a:spLocks noGrp="1"/>
          </p:cNvSpPr>
          <p:nvPr>
            <p:ph/>
          </p:nvPr>
        </p:nvSpPr>
        <p:spPr>
          <a:xfrm>
            <a:off x="8029800" y="3808080"/>
            <a:ext cx="3533040" cy="23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6CC9704-8763-4951-B80F-1F8DE3DC881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图片 8" descr="清华大学：面向网络协同制造的工业协议安全测试技术PPT_V1.0 封面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1198800" y="914400"/>
            <a:ext cx="9798840" cy="257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zh-CN" sz="6000" spc="299" strike="noStrike">
                <a:solidFill>
                  <a:srgbClr val="262626"/>
                </a:solidFill>
                <a:latin typeface="Arial"/>
                <a:ea typeface="微软雅黑"/>
              </a:rPr>
              <a:t>单击此处编辑标题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12000" y="6314400"/>
            <a:ext cx="2699640" cy="3164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4115880" y="6314400"/>
            <a:ext cx="3959640" cy="3164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8877600" y="6314400"/>
            <a:ext cx="2699640" cy="3164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3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1609560"/>
              </a:tabLst>
            </a:pPr>
            <a:r>
              <a:rPr b="0" lang="en-US" sz="1800" spc="148" strike="noStrike">
                <a:solidFill>
                  <a:srgbClr val="595959"/>
                </a:solidFill>
                <a:latin typeface="Arial"/>
              </a:rPr>
              <a:t>Click to edit the outline text format</a:t>
            </a:r>
            <a:endParaRPr b="0" lang="en-US" sz="1800" spc="148" strike="noStrike">
              <a:solidFill>
                <a:srgbClr val="595959"/>
              </a:solidFill>
              <a:latin typeface="Arial"/>
            </a:endParaRPr>
          </a:p>
          <a:p>
            <a:pPr lvl="1" marL="864000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1609560"/>
              </a:tabLst>
            </a:pPr>
            <a:r>
              <a:rPr b="0" lang="en-US" sz="1600" spc="148" strike="noStrike">
                <a:solidFill>
                  <a:srgbClr val="595959"/>
                </a:solidFill>
                <a:latin typeface="Arial"/>
              </a:rPr>
              <a:t>Second Outline Level</a:t>
            </a:r>
            <a:endParaRPr b="0" lang="en-US" sz="1600" spc="148" strike="noStrike">
              <a:solidFill>
                <a:srgbClr val="595959"/>
              </a:solidFill>
              <a:latin typeface="Arial"/>
            </a:endParaRPr>
          </a:p>
          <a:p>
            <a:pPr lvl="2" marL="1296000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1609560"/>
              </a:tabLst>
            </a:pPr>
            <a:r>
              <a:rPr b="0" lang="en-US" sz="1400" spc="148" strike="noStrike">
                <a:solidFill>
                  <a:srgbClr val="595959"/>
                </a:solidFill>
                <a:latin typeface="Arial"/>
              </a:rPr>
              <a:t>Third Outline Level</a:t>
            </a:r>
            <a:endParaRPr b="0" lang="en-US" sz="1400" spc="148" strike="noStrike">
              <a:solidFill>
                <a:srgbClr val="595959"/>
              </a:solidFill>
              <a:latin typeface="Arial"/>
            </a:endParaRPr>
          </a:p>
          <a:p>
            <a:pPr lvl="3" marL="1728000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1609560"/>
              </a:tabLst>
            </a:pPr>
            <a:r>
              <a:rPr b="0" lang="en-US" sz="1400" spc="148" strike="noStrike">
                <a:solidFill>
                  <a:srgbClr val="595959"/>
                </a:solidFill>
                <a:latin typeface="Arial"/>
              </a:rPr>
              <a:t>Fourth Outline Level</a:t>
            </a:r>
            <a:endParaRPr b="0" lang="en-US" sz="1400" spc="148" strike="noStrike">
              <a:solidFill>
                <a:srgbClr val="595959"/>
              </a:solidFill>
              <a:latin typeface="Arial"/>
            </a:endParaRPr>
          </a:p>
          <a:p>
            <a:pPr lvl="4" marL="2160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1609560"/>
              </a:tabLst>
            </a:pPr>
            <a:r>
              <a:rPr b="0" lang="en-US" sz="2000" spc="148" strike="noStrike">
                <a:solidFill>
                  <a:srgbClr val="595959"/>
                </a:solidFill>
                <a:latin typeface="Arial"/>
              </a:rPr>
              <a:t>Fifth Outline Level</a:t>
            </a:r>
            <a:endParaRPr b="0" lang="en-US" sz="2000" spc="148" strike="noStrike">
              <a:solidFill>
                <a:srgbClr val="595959"/>
              </a:solidFill>
              <a:latin typeface="Arial"/>
            </a:endParaRPr>
          </a:p>
          <a:p>
            <a:pPr lvl="5" marL="2592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1609560"/>
              </a:tabLst>
            </a:pPr>
            <a:r>
              <a:rPr b="0" lang="en-US" sz="2000" spc="148" strike="noStrike">
                <a:solidFill>
                  <a:srgbClr val="595959"/>
                </a:solidFill>
                <a:latin typeface="Arial"/>
              </a:rPr>
              <a:t>Sixth Outline Level</a:t>
            </a:r>
            <a:endParaRPr b="0" lang="en-US" sz="2000" spc="148" strike="noStrike">
              <a:solidFill>
                <a:srgbClr val="595959"/>
              </a:solidFill>
              <a:latin typeface="Arial"/>
            </a:endParaRPr>
          </a:p>
          <a:p>
            <a:pPr lvl="6" marL="3024000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1609560"/>
              </a:tabLst>
            </a:pPr>
            <a:r>
              <a:rPr b="0" lang="en-US" sz="2000" spc="148" strike="noStrike">
                <a:solidFill>
                  <a:srgbClr val="595959"/>
                </a:solidFill>
                <a:latin typeface="Arial"/>
              </a:rPr>
              <a:t>Seventh Outline Level</a:t>
            </a:r>
            <a:endParaRPr b="0" lang="en-US" sz="2000" spc="148" strike="noStrike">
              <a:solidFill>
                <a:srgbClr val="595959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Line 8"/>
          <p:cNvSpPr/>
          <p:nvPr/>
        </p:nvSpPr>
        <p:spPr>
          <a:xfrm>
            <a:off x="645480" y="1125360"/>
            <a:ext cx="10769400" cy="360"/>
          </a:xfrm>
          <a:prstGeom prst="line">
            <a:avLst/>
          </a:prstGeom>
          <a:ln w="38100">
            <a:solidFill>
              <a:srgbClr val="6592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PlaceHolder 1"/>
          <p:cNvSpPr>
            <a:spLocks noGrp="1"/>
          </p:cNvSpPr>
          <p:nvPr>
            <p:ph type="body"/>
          </p:nvPr>
        </p:nvSpPr>
        <p:spPr>
          <a:xfrm>
            <a:off x="609480" y="1268280"/>
            <a:ext cx="10972440" cy="486216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p>
            <a:pPr marL="343080" indent="-343080">
              <a:lnSpc>
                <a:spcPct val="100000"/>
              </a:lnSpc>
              <a:spcBef>
                <a:spcPts val="561"/>
              </a:spcBef>
              <a:buClr>
                <a:srgbClr val="c00000"/>
              </a:buClr>
              <a:buSzPct val="85000"/>
              <a:buFont typeface="Wingdings" charset="2"/>
              <a:buChar char=""/>
            </a:pPr>
            <a:r>
              <a:rPr b="0" lang="zh-CN" sz="2800" spc="-1" strike="noStrike">
                <a:solidFill>
                  <a:srgbClr val="000000"/>
                </a:solidFill>
                <a:latin typeface="Arial"/>
              </a:rPr>
              <a:t>单击此处编辑母版文本样式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479"/>
              </a:spcBef>
              <a:buClr>
                <a:srgbClr val="c00000"/>
              </a:buClr>
              <a:buSzPct val="85000"/>
              <a:buFont typeface="Wingdings" charset="2"/>
              <a:buChar char=""/>
            </a:pPr>
            <a:r>
              <a:rPr b="0" lang="zh-CN" sz="2400" spc="-1" strike="noStrike">
                <a:solidFill>
                  <a:srgbClr val="000000"/>
                </a:solidFill>
                <a:latin typeface="Arial"/>
              </a:rPr>
              <a:t>第二级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400"/>
              </a:spcBef>
              <a:buClr>
                <a:srgbClr val="ff9900"/>
              </a:buClr>
              <a:buSzPct val="85000"/>
              <a:buFont typeface="Wingdings" charset="2"/>
              <a:buChar char=""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第三级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400"/>
              </a:spcBef>
              <a:buClr>
                <a:srgbClr val="ffcc00"/>
              </a:buClr>
              <a:buFont typeface="Wingdings" charset="2"/>
              <a:buChar char=""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第四级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400"/>
              </a:spcBef>
              <a:buClr>
                <a:srgbClr val="666699"/>
              </a:buClr>
              <a:buSzPct val="80000"/>
              <a:buFont typeface="Wingdings" charset="2"/>
              <a:buChar char=""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第五级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dt" idx="4"/>
          </p:nvPr>
        </p:nvSpPr>
        <p:spPr>
          <a:xfrm>
            <a:off x="609480" y="6248520"/>
            <a:ext cx="2844360" cy="45684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ftr" idx="5"/>
          </p:nvPr>
        </p:nvSpPr>
        <p:spPr>
          <a:xfrm>
            <a:off x="4165560" y="6248520"/>
            <a:ext cx="3860280" cy="45684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sldNum" idx="6"/>
          </p:nvPr>
        </p:nvSpPr>
        <p:spPr>
          <a:xfrm>
            <a:off x="9168480" y="6543720"/>
            <a:ext cx="2844360" cy="31392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t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Line 8"/>
          <p:cNvSpPr/>
          <p:nvPr/>
        </p:nvSpPr>
        <p:spPr>
          <a:xfrm>
            <a:off x="645480" y="1125360"/>
            <a:ext cx="10769400" cy="360"/>
          </a:xfrm>
          <a:prstGeom prst="line">
            <a:avLst/>
          </a:prstGeom>
          <a:ln w="38100">
            <a:solidFill>
              <a:srgbClr val="6592f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PlaceHolder 1"/>
          <p:cNvSpPr>
            <a:spLocks noGrp="1"/>
          </p:cNvSpPr>
          <p:nvPr>
            <p:ph type="body"/>
          </p:nvPr>
        </p:nvSpPr>
        <p:spPr>
          <a:xfrm>
            <a:off x="609480" y="1268280"/>
            <a:ext cx="10972440" cy="486216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p>
            <a:pPr marL="343080" indent="-343080">
              <a:lnSpc>
                <a:spcPct val="100000"/>
              </a:lnSpc>
              <a:spcBef>
                <a:spcPts val="561"/>
              </a:spcBef>
              <a:buClr>
                <a:srgbClr val="c00000"/>
              </a:buClr>
              <a:buSzPct val="85000"/>
              <a:buFont typeface="Wingdings" charset="2"/>
              <a:buChar char=""/>
            </a:pPr>
            <a:r>
              <a:rPr b="0" lang="zh-CN" sz="2800" spc="-1" strike="noStrike">
                <a:solidFill>
                  <a:srgbClr val="000000"/>
                </a:solidFill>
                <a:latin typeface="Arial"/>
              </a:rPr>
              <a:t>单击此处编辑母版文本样式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479"/>
              </a:spcBef>
              <a:buClr>
                <a:srgbClr val="c00000"/>
              </a:buClr>
              <a:buSzPct val="85000"/>
              <a:buFont typeface="Wingdings" charset="2"/>
              <a:buChar char=""/>
            </a:pPr>
            <a:r>
              <a:rPr b="0" lang="zh-CN" sz="2400" spc="-1" strike="noStrike">
                <a:solidFill>
                  <a:srgbClr val="000000"/>
                </a:solidFill>
                <a:latin typeface="Arial"/>
              </a:rPr>
              <a:t>第二级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400"/>
              </a:spcBef>
              <a:buClr>
                <a:srgbClr val="ff9900"/>
              </a:buClr>
              <a:buSzPct val="85000"/>
              <a:buFont typeface="Wingdings" charset="2"/>
              <a:buChar char=""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第三级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400"/>
              </a:spcBef>
              <a:buClr>
                <a:srgbClr val="ffcc00"/>
              </a:buClr>
              <a:buFont typeface="Wingdings" charset="2"/>
              <a:buChar char=""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第四级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400"/>
              </a:spcBef>
              <a:buClr>
                <a:srgbClr val="666699"/>
              </a:buClr>
              <a:buSzPct val="80000"/>
              <a:buFont typeface="Wingdings" charset="2"/>
              <a:buChar char=""/>
            </a:pPr>
            <a:r>
              <a:rPr b="0" lang="zh-CN" sz="2000" spc="-1" strike="noStrike">
                <a:solidFill>
                  <a:srgbClr val="000000"/>
                </a:solidFill>
                <a:latin typeface="Arial"/>
              </a:rPr>
              <a:t>第五级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dt" idx="7"/>
          </p:nvPr>
        </p:nvSpPr>
        <p:spPr>
          <a:xfrm>
            <a:off x="609480" y="6248520"/>
            <a:ext cx="2844360" cy="45684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8"/>
          </p:nvPr>
        </p:nvSpPr>
        <p:spPr>
          <a:xfrm>
            <a:off x="4165560" y="6248520"/>
            <a:ext cx="3860280" cy="45684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sldNum" idx="9"/>
          </p:nvPr>
        </p:nvSpPr>
        <p:spPr>
          <a:xfrm>
            <a:off x="9168480" y="6543720"/>
            <a:ext cx="2844360" cy="31392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t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sldNum" idx="13"/>
          </p:nvPr>
        </p:nvSpPr>
        <p:spPr>
          <a:xfrm>
            <a:off x="9264960" y="6453000"/>
            <a:ext cx="2699640" cy="3164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  <p:sp>
        <p:nvSpPr>
          <p:cNvPr id="133" name="Rectangle 2"/>
          <p:cNvSpPr/>
          <p:nvPr/>
        </p:nvSpPr>
        <p:spPr>
          <a:xfrm>
            <a:off x="479520" y="692640"/>
            <a:ext cx="833076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zh-CN" sz="3200" spc="-1" strike="noStrike">
                <a:solidFill>
                  <a:srgbClr val="ffffff"/>
                </a:solidFill>
                <a:latin typeface="微软雅黑"/>
                <a:ea typeface="微软雅黑"/>
              </a:rPr>
              <a:t>汇 报 提 纲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34" name="直接连接符 4"/>
          <p:cNvSpPr/>
          <p:nvPr/>
        </p:nvSpPr>
        <p:spPr>
          <a:xfrm>
            <a:off x="0" y="1304640"/>
            <a:ext cx="2562120" cy="360"/>
          </a:xfrm>
          <a:prstGeom prst="line">
            <a:avLst/>
          </a:prstGeom>
          <a:ln w="412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35" name="组合 2"/>
          <p:cNvGrpSpPr/>
          <p:nvPr/>
        </p:nvGrpSpPr>
        <p:grpSpPr>
          <a:xfrm>
            <a:off x="1143720" y="3464640"/>
            <a:ext cx="4537440" cy="729360"/>
            <a:chOff x="1143720" y="3464640"/>
            <a:chExt cx="4537440" cy="729360"/>
          </a:xfrm>
        </p:grpSpPr>
        <p:sp>
          <p:nvSpPr>
            <p:cNvPr id="136" name="文本框 3"/>
            <p:cNvSpPr/>
            <p:nvPr/>
          </p:nvSpPr>
          <p:spPr>
            <a:xfrm>
              <a:off x="1935720" y="3626640"/>
              <a:ext cx="3745440" cy="51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zh-CN" sz="2800" spc="-1" strike="noStrike">
                  <a:solidFill>
                    <a:srgbClr val="808080"/>
                  </a:solidFill>
                  <a:latin typeface="微软雅黑"/>
                  <a:ea typeface="微软雅黑"/>
                </a:rPr>
                <a:t>课题概况与研究内容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37" name="剪去对角的矩形 9"/>
            <p:cNvSpPr/>
            <p:nvPr/>
          </p:nvSpPr>
          <p:spPr>
            <a:xfrm>
              <a:off x="1143720" y="3610800"/>
              <a:ext cx="541800" cy="541800"/>
            </a:xfrm>
            <a:prstGeom prst="snip2DiagRect">
              <a:avLst>
                <a:gd name="adj1" fmla="val 0"/>
                <a:gd name="adj2" fmla="val 24873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38" name="文本框 12"/>
            <p:cNvSpPr/>
            <p:nvPr/>
          </p:nvSpPr>
          <p:spPr>
            <a:xfrm>
              <a:off x="1143720" y="3464640"/>
              <a:ext cx="579960" cy="72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en-US" sz="2800" spc="-1" strike="noStrike">
                  <a:solidFill>
                    <a:srgbClr val="ffffff"/>
                  </a:solidFill>
                  <a:latin typeface="Impact"/>
                  <a:ea typeface="微软雅黑"/>
                </a:rPr>
                <a:t>01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39" name="直接连接符 10"/>
            <p:cNvSpPr/>
            <p:nvPr/>
          </p:nvSpPr>
          <p:spPr>
            <a:xfrm>
              <a:off x="1873800" y="3601080"/>
              <a:ext cx="360" cy="565560"/>
            </a:xfrm>
            <a:prstGeom prst="line">
              <a:avLst/>
            </a:prstGeom>
            <a:ln w="127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40" name="组合 34"/>
          <p:cNvGrpSpPr/>
          <p:nvPr/>
        </p:nvGrpSpPr>
        <p:grpSpPr>
          <a:xfrm>
            <a:off x="1143000" y="4626000"/>
            <a:ext cx="4537440" cy="729360"/>
            <a:chOff x="1143000" y="4626000"/>
            <a:chExt cx="4537440" cy="729360"/>
          </a:xfrm>
        </p:grpSpPr>
        <p:sp>
          <p:nvSpPr>
            <p:cNvPr id="141" name="文本框 35"/>
            <p:cNvSpPr/>
            <p:nvPr/>
          </p:nvSpPr>
          <p:spPr>
            <a:xfrm>
              <a:off x="1935000" y="4788000"/>
              <a:ext cx="3745440" cy="51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28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任务与指标完成情况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42" name="剪去对角的矩形 36"/>
            <p:cNvSpPr/>
            <p:nvPr/>
          </p:nvSpPr>
          <p:spPr>
            <a:xfrm>
              <a:off x="1143000" y="4772160"/>
              <a:ext cx="541800" cy="541800"/>
            </a:xfrm>
            <a:prstGeom prst="snip2DiagRect">
              <a:avLst>
                <a:gd name="adj1" fmla="val 0"/>
                <a:gd name="adj2" fmla="val 24873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43" name="文本框 37"/>
            <p:cNvSpPr/>
            <p:nvPr/>
          </p:nvSpPr>
          <p:spPr>
            <a:xfrm>
              <a:off x="1143000" y="4626000"/>
              <a:ext cx="579960" cy="72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en-US" sz="2800" spc="-1" strike="noStrike">
                  <a:solidFill>
                    <a:srgbClr val="ffffff"/>
                  </a:solidFill>
                  <a:latin typeface="Impact"/>
                  <a:ea typeface="微软雅黑"/>
                </a:rPr>
                <a:t>02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44" name="直接连接符 17"/>
            <p:cNvSpPr/>
            <p:nvPr/>
          </p:nvSpPr>
          <p:spPr>
            <a:xfrm>
              <a:off x="1873080" y="4762440"/>
              <a:ext cx="360" cy="565920"/>
            </a:xfrm>
            <a:prstGeom prst="line">
              <a:avLst/>
            </a:prstGeom>
            <a:ln w="127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45" name="组合 39"/>
          <p:cNvGrpSpPr/>
          <p:nvPr/>
        </p:nvGrpSpPr>
        <p:grpSpPr>
          <a:xfrm>
            <a:off x="6541200" y="3517920"/>
            <a:ext cx="4537440" cy="729360"/>
            <a:chOff x="6541200" y="3517920"/>
            <a:chExt cx="4537440" cy="729360"/>
          </a:xfrm>
        </p:grpSpPr>
        <p:sp>
          <p:nvSpPr>
            <p:cNvPr id="146" name="文本框 40"/>
            <p:cNvSpPr/>
            <p:nvPr/>
          </p:nvSpPr>
          <p:spPr>
            <a:xfrm>
              <a:off x="7333200" y="3679920"/>
              <a:ext cx="3745440" cy="51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zh-CN" sz="2800" spc="-1" strike="noStrike">
                  <a:solidFill>
                    <a:srgbClr val="808080"/>
                  </a:solidFill>
                  <a:latin typeface="微软雅黑"/>
                  <a:ea typeface="微软雅黑"/>
                </a:rPr>
                <a:t>技术细节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47" name="剪去对角的矩形 41"/>
            <p:cNvSpPr/>
            <p:nvPr/>
          </p:nvSpPr>
          <p:spPr>
            <a:xfrm>
              <a:off x="6541200" y="3664080"/>
              <a:ext cx="541800" cy="541800"/>
            </a:xfrm>
            <a:prstGeom prst="snip2DiagRect">
              <a:avLst>
                <a:gd name="adj1" fmla="val 0"/>
                <a:gd name="adj2" fmla="val 24873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48" name="文本框 42"/>
            <p:cNvSpPr/>
            <p:nvPr/>
          </p:nvSpPr>
          <p:spPr>
            <a:xfrm>
              <a:off x="6541200" y="3517920"/>
              <a:ext cx="579960" cy="72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en-US" sz="2800" spc="-1" strike="noStrike">
                  <a:solidFill>
                    <a:srgbClr val="ffffff"/>
                  </a:solidFill>
                  <a:latin typeface="Impact"/>
                  <a:ea typeface="微软雅黑"/>
                </a:rPr>
                <a:t>03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49" name="直接连接符 22"/>
            <p:cNvSpPr/>
            <p:nvPr/>
          </p:nvSpPr>
          <p:spPr>
            <a:xfrm>
              <a:off x="7271280" y="3654360"/>
              <a:ext cx="360" cy="565560"/>
            </a:xfrm>
            <a:prstGeom prst="line">
              <a:avLst/>
            </a:prstGeom>
            <a:ln w="127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50" name="组合 44"/>
          <p:cNvGrpSpPr/>
          <p:nvPr/>
        </p:nvGrpSpPr>
        <p:grpSpPr>
          <a:xfrm>
            <a:off x="6541920" y="4674600"/>
            <a:ext cx="4537080" cy="729360"/>
            <a:chOff x="6541920" y="4674600"/>
            <a:chExt cx="4537080" cy="729360"/>
          </a:xfrm>
        </p:grpSpPr>
        <p:sp>
          <p:nvSpPr>
            <p:cNvPr id="151" name="文本框 45"/>
            <p:cNvSpPr/>
            <p:nvPr/>
          </p:nvSpPr>
          <p:spPr>
            <a:xfrm>
              <a:off x="7333560" y="4836600"/>
              <a:ext cx="3745440" cy="51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zh-CN" sz="2800" spc="-1" strike="noStrike">
                  <a:solidFill>
                    <a:srgbClr val="808080"/>
                  </a:solidFill>
                  <a:latin typeface="微软雅黑"/>
                  <a:ea typeface="微软雅黑"/>
                </a:rPr>
                <a:t>课题管理与风险分析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52" name="剪去对角的矩形 46"/>
            <p:cNvSpPr/>
            <p:nvPr/>
          </p:nvSpPr>
          <p:spPr>
            <a:xfrm>
              <a:off x="6541920" y="4820760"/>
              <a:ext cx="541800" cy="541800"/>
            </a:xfrm>
            <a:prstGeom prst="snip2DiagRect">
              <a:avLst>
                <a:gd name="adj1" fmla="val 0"/>
                <a:gd name="adj2" fmla="val 24873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53" name="文本框 47"/>
            <p:cNvSpPr/>
            <p:nvPr/>
          </p:nvSpPr>
          <p:spPr>
            <a:xfrm>
              <a:off x="6541920" y="4674600"/>
              <a:ext cx="579960" cy="72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en-US" sz="2800" spc="-1" strike="noStrike">
                  <a:solidFill>
                    <a:srgbClr val="ffffff"/>
                  </a:solidFill>
                  <a:latin typeface="Impact"/>
                  <a:ea typeface="微软雅黑"/>
                </a:rPr>
                <a:t>04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54" name="直接连接符 27"/>
            <p:cNvSpPr/>
            <p:nvPr/>
          </p:nvSpPr>
          <p:spPr>
            <a:xfrm>
              <a:off x="7272000" y="4811040"/>
              <a:ext cx="360" cy="565920"/>
            </a:xfrm>
            <a:prstGeom prst="line">
              <a:avLst/>
            </a:prstGeom>
            <a:ln w="127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mc:AlternateContent>
    <mc:Choice Requires="p14">
      <p:transition spd="med" p14:dur="999"/>
    </mc:Choice>
    <mc:Fallback>
      <p:transition spd="med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 txBox="1"/>
          <p:nvPr/>
        </p:nvSpPr>
        <p:spPr>
          <a:xfrm>
            <a:off x="669600" y="464400"/>
            <a:ext cx="10620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200" spc="-1" strike="noStrike">
                <a:solidFill>
                  <a:srgbClr val="000000"/>
                </a:solidFill>
                <a:latin typeface="Microsoft YaHei"/>
              </a:rPr>
              <a:t>任务与指标完成情况</a:t>
            </a:r>
            <a:endParaRPr b="1" lang="en-US" sz="3200" spc="-1" strike="noStrike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80000" y="1195200"/>
            <a:ext cx="11833200" cy="421200"/>
          </a:xfrm>
          <a:prstGeom prst="rect">
            <a:avLst/>
          </a:prstGeom>
          <a:solidFill>
            <a:srgbClr val="00b0f0"/>
          </a:solidFill>
          <a:ln w="25200">
            <a:solidFill>
              <a:srgbClr val="000000"/>
            </a:solidFill>
            <a:round/>
          </a:ln>
        </p:spPr>
        <p:txBody>
          <a:bodyPr lIns="102600" rIns="102600" tIns="57600" bIns="57600" anchor="ctr">
            <a:noAutofit/>
          </a:bodyPr>
          <a:p>
            <a:pPr algn="ctr">
              <a:buNone/>
            </a:pPr>
            <a:r>
              <a:rPr b="1" lang="zh-CN" sz="1800" spc="-1" strike="noStrike">
                <a:solidFill>
                  <a:srgbClr val="000000"/>
                </a:solidFill>
                <a:latin typeface="Microsoft YaHei"/>
              </a:rPr>
              <a:t>课题：具身智能系统控制逻辑漏洞挖掘技术研究</a:t>
            </a:r>
            <a:endParaRPr b="1" lang="en-US" sz="1800" spc="-1" strike="noStrike">
              <a:solidFill>
                <a:srgbClr val="000000"/>
              </a:solidFill>
              <a:latin typeface="Microsoft YaHei"/>
            </a:endParaRPr>
          </a:p>
        </p:txBody>
      </p:sp>
      <p:graphicFrame>
        <p:nvGraphicFramePr>
          <p:cNvPr id="157" name=""/>
          <p:cNvGraphicFramePr/>
          <p:nvPr/>
        </p:nvGraphicFramePr>
        <p:xfrm>
          <a:off x="180000" y="1555200"/>
          <a:ext cx="11833200" cy="4806000"/>
        </p:xfrm>
        <a:graphic>
          <a:graphicData uri="http://schemas.openxmlformats.org/drawingml/2006/table">
            <a:tbl>
              <a:tblPr/>
              <a:tblGrid>
                <a:gridCol w="1537200"/>
                <a:gridCol w="2365200"/>
                <a:gridCol w="2602800"/>
                <a:gridCol w="5328000"/>
              </a:tblGrid>
              <a:tr h="432000">
                <a:tc>
                  <a:txBody>
                    <a:bodyPr lIns="90000" rIns="90000" tIns="45000" bIns="45000" anchor="ctr">
                      <a:noAutofit/>
                    </a:bodyPr>
                    <a:p>
                      <a:pPr algn="ctr">
                        <a:buNone/>
                      </a:pPr>
                      <a:r>
                        <a:rPr b="1" lang="zh-CN" sz="140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指标名称</a:t>
                      </a:r>
                      <a:endParaRPr b="1" lang="en-US" sz="140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pPr algn="ctr">
                        <a:buNone/>
                      </a:pPr>
                      <a:r>
                        <a:rPr b="1" lang="zh-CN" sz="140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原始基线 </a:t>
                      </a: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/ </a:t>
                      </a:r>
                      <a:r>
                        <a:rPr b="1" lang="zh-CN" sz="140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立项状态</a:t>
                      </a:r>
                      <a:endParaRPr b="1" lang="en-US" sz="140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pPr algn="ctr">
                        <a:buNone/>
                      </a:pPr>
                      <a:r>
                        <a:rPr b="1" lang="zh-CN" sz="140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开题完成要求</a:t>
                      </a:r>
                      <a:endParaRPr b="1" lang="en-US" sz="140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pPr algn="ctr">
                        <a:buNone/>
                      </a:pPr>
                      <a:r>
                        <a:rPr b="1" lang="zh-CN" sz="140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当前指标状态</a:t>
                      </a:r>
                      <a:endParaRPr b="1" lang="en-US" sz="1400" spc="-1" strike="noStrike">
                        <a:solidFill>
                          <a:srgbClr val="c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8000">
                <a:tc>
                  <a:txBody>
                    <a:bodyPr lIns="90000" rIns="90000" tIns="45000" bIns="45000" anchor="ctr">
                      <a:noAutofit/>
                    </a:bodyPr>
                    <a:p>
                      <a:pPr algn="ctr">
                        <a:buNone/>
                      </a:pPr>
                      <a:r>
                        <a:rPr b="1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控制语义约束</a:t>
                      </a:r>
                      <a:endParaRPr b="1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  <a:p>
                      <a:pPr algn="ctr">
                        <a:buNone/>
                      </a:pPr>
                      <a:r>
                        <a:rPr b="1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不少于</a:t>
                      </a:r>
                      <a:r>
                        <a:rPr b="1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50</a:t>
                      </a:r>
                      <a:r>
                        <a:rPr b="1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条</a:t>
                      </a:r>
                      <a:endParaRPr b="1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少量目标专用手写 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Oracle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；缺少统一的多源规范处理和结构化中间表示。</a:t>
                      </a:r>
                      <a:endParaRPr b="0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提取的控制语义约束不少于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50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条。</a:t>
                      </a:r>
                      <a:endParaRPr b="0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达到数量规模。处理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425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个输入文件，形成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2749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个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SpecBlock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、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151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份现代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OracleIR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和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35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份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legacy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逻辑规格。逐条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IR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与在线话题、字段和函数的映射仍待固化。</a:t>
                      </a:r>
                      <a:endParaRPr b="0" lang="en-US" sz="1150" spc="-1" strike="noStrike">
                        <a:solidFill>
                          <a:srgbClr val="c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4800">
                <a:tc>
                  <a:txBody>
                    <a:bodyPr lIns="90000" rIns="90000" tIns="45000" bIns="45000" anchor="ctr">
                      <a:noAutofit/>
                    </a:bodyPr>
                    <a:p>
                      <a:pPr algn="ctr">
                        <a:buNone/>
                      </a:pPr>
                      <a:r>
                        <a:rPr b="1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测试输入覆盖</a:t>
                      </a:r>
                      <a:endParaRPr b="1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  <a:p>
                      <a:pPr algn="ctr">
                        <a:buNone/>
                      </a:pPr>
                      <a:r>
                        <a:rPr b="1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四种类型</a:t>
                      </a:r>
                      <a:endParaRPr b="1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具备通用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ROS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消息变异和基础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Campaign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，尚未形成完整四维语义输入体系。</a:t>
                      </a:r>
                      <a:endParaRPr b="0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输入包含用户指令、传感器数据、控制参数和消息事件四类。</a:t>
                      </a:r>
                      <a:endParaRPr b="0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部分达到。用户指令较强，控制参数中等，持续、频率、顺序、模式切换等消息事件部分支持；传感器目前主要用于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Oracle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观测，专用连续扰动及通用延迟、丢包、乱序仍待补强。</a:t>
                      </a:r>
                      <a:endParaRPr b="0" lang="en-US" sz="1150" spc="-1" strike="noStrike">
                        <a:solidFill>
                          <a:srgbClr val="c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3200">
                <a:tc>
                  <a:txBody>
                    <a:bodyPr lIns="90000" rIns="90000" tIns="45000" bIns="45000" anchor="ctr">
                      <a:noAutofit/>
                    </a:bodyPr>
                    <a:p>
                      <a:pPr algn="ctr">
                        <a:buNone/>
                      </a:pPr>
                      <a:r>
                        <a:rPr b="1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语义相关变异</a:t>
                      </a:r>
                      <a:endParaRPr b="1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  <a:p>
                      <a:pPr algn="ctr">
                        <a:buNone/>
                      </a:pPr>
                      <a:r>
                        <a:rPr b="1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算子不少于</a:t>
                      </a:r>
                      <a:r>
                        <a:rPr b="1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  <a:r>
                        <a:rPr b="1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类</a:t>
                      </a:r>
                      <a:endParaRPr b="1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以字段级随机或确定性变异为主，行为时间语义和物理耦合有限。</a:t>
                      </a:r>
                      <a:endParaRPr b="0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语义相关的变异算子不少于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类。</a:t>
                      </a:r>
                      <a:endParaRPr b="0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达到：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8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类。已形成多轴协同、方向翻转、持续块、边界推进、反转、轨迹弧、单点极值和回环八类跨目标策略；随机仅作探索兜底，算子级独立贡献仍需消融。</a:t>
                      </a:r>
                      <a:endParaRPr b="0" lang="en-US" sz="1150" spc="-1" strike="noStrike">
                        <a:solidFill>
                          <a:srgbClr val="c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8000">
                <a:tc>
                  <a:txBody>
                    <a:bodyPr lIns="90000" rIns="90000" tIns="45000" bIns="45000" anchor="ctr">
                      <a:noAutofit/>
                    </a:bodyPr>
                    <a:p>
                      <a:pPr algn="ctr">
                        <a:buNone/>
                      </a:pPr>
                      <a:r>
                        <a:rPr b="1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偏轨判定与</a:t>
                      </a:r>
                      <a:endParaRPr b="1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  <a:p>
                      <a:pPr algn="ctr">
                        <a:buNone/>
                      </a:pPr>
                      <a:r>
                        <a:rPr b="1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场景回溯</a:t>
                      </a:r>
                      <a:endParaRPr b="1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具备基础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checker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、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rosbag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和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replay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能力，但控制语义和证据归并不足。</a:t>
                      </a:r>
                      <a:endParaRPr b="0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支持控制语义偏轨判定与场景回溯验证。</a:t>
                      </a:r>
                      <a:endParaRPr b="0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仿真侧达到。五类现代目标已建立运行时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Oracle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，并形成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rosbag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、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PX4 ULG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、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Gazebo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独立真值、输入恢复、离线复算和回放证据链；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Go2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、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ECO65-B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实物重复执行和虚实差分尚未开展。</a:t>
                      </a:r>
                      <a:endParaRPr b="0" lang="en-US" sz="1150" spc="-1" strike="noStrike">
                        <a:solidFill>
                          <a:srgbClr val="c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lIns="90000" rIns="90000" tIns="45000" bIns="45000" anchor="ctr">
                      <a:noAutofit/>
                    </a:bodyPr>
                    <a:p>
                      <a:pPr algn="ctr">
                        <a:buNone/>
                      </a:pPr>
                      <a:r>
                        <a:rPr b="1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语义约束覆盖率</a:t>
                      </a:r>
                      <a:endParaRPr b="1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  <a:p>
                      <a:pPr algn="ctr">
                        <a:buNone/>
                      </a:pPr>
                      <a:r>
                        <a:rPr b="1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相对提升≥</a:t>
                      </a:r>
                      <a:r>
                        <a:rPr b="1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20%</a:t>
                      </a:r>
                      <a:endParaRPr b="1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尚无统一的语义约束覆盖率定义、分母和同预算对照流程。</a:t>
                      </a:r>
                      <a:endParaRPr b="0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相较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RoboFuzz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，控制语义约束覆盖率提升不少于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20%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。</a:t>
                      </a:r>
                      <a:endParaRPr b="0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待形成正式证据。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TB4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组合优化中唯一输入签名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629→842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（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+33.9%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），最高单一输入签名重复次数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156→21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（下降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86.5%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）。该结果不是语义约束覆盖率，也不是单变量消融。</a:t>
                      </a:r>
                      <a:endParaRPr b="0" lang="en-US" sz="1150" spc="-1" strike="noStrike">
                        <a:solidFill>
                          <a:srgbClr val="c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lIns="90000" rIns="90000" tIns="45000" bIns="45000" anchor="ctr">
                      <a:noAutofit/>
                    </a:bodyPr>
                    <a:p>
                      <a:pPr algn="ctr">
                        <a:buNone/>
                      </a:pPr>
                      <a:r>
                        <a:rPr b="1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平台与漏洞</a:t>
                      </a:r>
                      <a:endParaRPr b="1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  <a:p>
                      <a:pPr algn="ctr">
                        <a:buNone/>
                      </a:pPr>
                      <a:r>
                        <a:rPr b="1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成果指标</a:t>
                      </a:r>
                      <a:endParaRPr b="1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无本人可核实的实物验证闭环和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CNVD/CNNVD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正式编号基线。</a:t>
                      </a:r>
                      <a:endParaRPr b="0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至少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2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类典型平台、未公开漏洞不少于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5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个，并获得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CNVD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或</a:t>
                      </a:r>
                      <a:r>
                        <a:rPr b="0" lang="en-US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CNNVD</a:t>
                      </a:r>
                      <a:r>
                        <a:rPr b="0" lang="zh-CN" sz="1150" spc="-1" strike="noStrike">
                          <a:solidFill>
                            <a:srgbClr val="000000"/>
                          </a:solidFill>
                          <a:latin typeface="Microsoft YaHei"/>
                        </a:rPr>
                        <a:t>编号。</a:t>
                      </a:r>
                      <a:endParaRPr b="0" lang="en-US" sz="1150" spc="-1" strike="noStrike">
                        <a:solidFill>
                          <a:srgbClr val="0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0000" rIns="90000" tIns="45000" bIns="45000" anchor="ctr">
                      <a:noAutofit/>
                    </a:bodyPr>
                    <a:p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待形成正式证据。截至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2026-09-17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共提交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34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条公开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Issue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，其中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22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条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Open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、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12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条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Closed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。</a:t>
                      </a:r>
                      <a:r>
                        <a:rPr b="0" lang="en-US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Issue</a:t>
                      </a:r>
                      <a:r>
                        <a:rPr b="0" lang="zh-CN" sz="1150" spc="-1" strike="noStrike">
                          <a:solidFill>
                            <a:srgbClr val="c00000"/>
                          </a:solidFill>
                          <a:latin typeface="Microsoft YaHei"/>
                        </a:rPr>
                        <a:t>不等于独立或确认漏洞；指定实物验证、未公开漏洞认定和正式编号尚未闭环。</a:t>
                      </a:r>
                      <a:endParaRPr b="0" lang="en-US" sz="1150" spc="-1" strike="noStrike">
                        <a:solidFill>
                          <a:srgbClr val="c00000"/>
                        </a:solidFill>
                        <a:latin typeface="Microsoft YaHei"/>
                      </a:endParaRPr>
                    </a:p>
                  </a:txBody>
                  <a:tcPr anchor="ctr" marL="90000" marR="90000">
                    <a:lnL w="25200">
                      <a:solidFill>
                        <a:srgbClr val="000000"/>
                      </a:solidFill>
                    </a:lnL>
                    <a:lnR w="25200">
                      <a:solidFill>
                        <a:srgbClr val="000000"/>
                      </a:solidFill>
                    </a:lnR>
                    <a:lnT w="25200">
                      <a:solidFill>
                        <a:srgbClr val="000000"/>
                      </a:solidFill>
                    </a:lnT>
                    <a:lnB w="252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8" name=""/>
          <p:cNvSpPr txBox="1"/>
          <p:nvPr/>
        </p:nvSpPr>
        <p:spPr>
          <a:xfrm>
            <a:off x="270000" y="6400800"/>
            <a:ext cx="11592000" cy="75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r>
              <a:rPr b="0" lang="zh-CN" sz="1100" spc="-1" strike="noStrike">
                <a:solidFill>
                  <a:srgbClr val="5f6b76"/>
                </a:solidFill>
                <a:latin typeface="Microsoft YaHei"/>
              </a:rPr>
              <a:t>统计截至</a:t>
            </a:r>
            <a:r>
              <a:rPr b="0" lang="en-US" sz="1100" spc="-1" strike="noStrike">
                <a:solidFill>
                  <a:srgbClr val="5f6b76"/>
                </a:solidFill>
                <a:latin typeface="Microsoft YaHei"/>
              </a:rPr>
              <a:t>2026-09-17</a:t>
            </a:r>
            <a:r>
              <a:rPr b="0" lang="zh-CN" sz="1100" spc="-1" strike="noStrike">
                <a:solidFill>
                  <a:srgbClr val="5f6b76"/>
                </a:solidFill>
                <a:latin typeface="Microsoft YaHei"/>
              </a:rPr>
              <a:t>；状态采用离散证据等级，不代表完成百分比。</a:t>
            </a:r>
            <a:r>
              <a:rPr b="0" lang="en-US" sz="1100" spc="-1" strike="noStrike">
                <a:solidFill>
                  <a:srgbClr val="5f6b76"/>
                </a:solidFill>
                <a:latin typeface="Microsoft YaHei"/>
              </a:rPr>
              <a:t>34 </a:t>
            </a:r>
            <a:r>
              <a:rPr b="0" lang="zh-CN" sz="1100" spc="-1" strike="noStrike">
                <a:solidFill>
                  <a:srgbClr val="5f6b76"/>
                </a:solidFill>
                <a:latin typeface="Microsoft YaHei"/>
              </a:rPr>
              <a:t>条 </a:t>
            </a:r>
            <a:r>
              <a:rPr b="0" lang="en-US" sz="1100" spc="-1" strike="noStrike">
                <a:solidFill>
                  <a:srgbClr val="5f6b76"/>
                </a:solidFill>
                <a:latin typeface="Microsoft YaHei"/>
              </a:rPr>
              <a:t>Issue </a:t>
            </a:r>
            <a:r>
              <a:rPr b="0" lang="zh-CN" sz="1100" spc="-1" strike="noStrike">
                <a:solidFill>
                  <a:srgbClr val="5f6b76"/>
                </a:solidFill>
                <a:latin typeface="Microsoft YaHei"/>
              </a:rPr>
              <a:t>不等于 </a:t>
            </a:r>
            <a:r>
              <a:rPr b="0" lang="en-US" sz="1100" spc="-1" strike="noStrike">
                <a:solidFill>
                  <a:srgbClr val="5f6b76"/>
                </a:solidFill>
                <a:latin typeface="Microsoft YaHei"/>
              </a:rPr>
              <a:t>34 </a:t>
            </a:r>
            <a:r>
              <a:rPr b="0" lang="zh-CN" sz="1100" spc="-1" strike="noStrike">
                <a:solidFill>
                  <a:srgbClr val="5f6b76"/>
                </a:solidFill>
                <a:latin typeface="Microsoft YaHei"/>
              </a:rPr>
              <a:t>个漏洞；</a:t>
            </a:r>
            <a:r>
              <a:rPr b="0" lang="en-US" sz="1100" spc="-1" strike="noStrike">
                <a:solidFill>
                  <a:srgbClr val="5f6b76"/>
                </a:solidFill>
                <a:latin typeface="Microsoft YaHei"/>
              </a:rPr>
              <a:t>SpecBlock</a:t>
            </a:r>
            <a:r>
              <a:rPr b="0" lang="zh-CN" sz="1100" spc="-1" strike="noStrike">
                <a:solidFill>
                  <a:srgbClr val="5f6b76"/>
                </a:solidFill>
                <a:latin typeface="Microsoft YaHei"/>
              </a:rPr>
              <a:t>和</a:t>
            </a:r>
            <a:r>
              <a:rPr b="0" lang="en-US" sz="1100" spc="-1" strike="noStrike">
                <a:solidFill>
                  <a:srgbClr val="5f6b76"/>
                </a:solidFill>
                <a:latin typeface="Microsoft YaHei"/>
              </a:rPr>
              <a:t>IR</a:t>
            </a:r>
            <a:r>
              <a:rPr b="0" lang="zh-CN" sz="1100" spc="-1" strike="noStrike">
                <a:solidFill>
                  <a:srgbClr val="5f6b76"/>
                </a:solidFill>
                <a:latin typeface="Microsoft YaHei"/>
              </a:rPr>
              <a:t>数量也不等于全部在线执行。</a:t>
            </a:r>
            <a:endParaRPr b="0" lang="en-US" sz="1100" spc="-1" strike="noStrike">
              <a:solidFill>
                <a:srgbClr val="5f6b76"/>
              </a:solidFill>
              <a:latin typeface="Microsoft YaHei"/>
            </a:endParaRPr>
          </a:p>
        </p:txBody>
      </p:sp>
    </p:spTree>
  </p:cSld>
  <mc:AlternateContent>
    <mc:Choice Requires="p14">
      <p:transition p14:dur="10"/>
    </mc:Choice>
    <mc:Fallback>
      <p:transition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Num" idx="14"/>
          </p:nvPr>
        </p:nvSpPr>
        <p:spPr>
          <a:xfrm>
            <a:off x="9264960" y="6453000"/>
            <a:ext cx="2699640" cy="3164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defRPr b="0" lang="en-US" sz="2400" spc="-1" strike="noStrike">
                <a:latin typeface="Times New Roman"/>
              </a:defRPr>
            </a:lvl1pPr>
          </a:lstStyle>
          <a:p>
            <a:endParaRPr b="0" lang="en-US" sz="2400" spc="-1" strike="noStrike">
              <a:latin typeface="Times New Roman"/>
            </a:endParaRPr>
          </a:p>
        </p:txBody>
      </p:sp>
      <p:sp>
        <p:nvSpPr>
          <p:cNvPr id="160" name="Rectangle 2"/>
          <p:cNvSpPr/>
          <p:nvPr/>
        </p:nvSpPr>
        <p:spPr>
          <a:xfrm>
            <a:off x="479520" y="692640"/>
            <a:ext cx="833076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zh-CN" sz="3200" spc="-1" strike="noStrike">
                <a:solidFill>
                  <a:srgbClr val="ffffff"/>
                </a:solidFill>
                <a:latin typeface="微软雅黑"/>
                <a:ea typeface="微软雅黑"/>
              </a:rPr>
              <a:t>汇 报 提 纲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61" name="直接连接符 4"/>
          <p:cNvSpPr/>
          <p:nvPr/>
        </p:nvSpPr>
        <p:spPr>
          <a:xfrm>
            <a:off x="0" y="1304640"/>
            <a:ext cx="2562120" cy="360"/>
          </a:xfrm>
          <a:prstGeom prst="line">
            <a:avLst/>
          </a:prstGeom>
          <a:ln w="412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62" name="组合 2"/>
          <p:cNvGrpSpPr/>
          <p:nvPr/>
        </p:nvGrpSpPr>
        <p:grpSpPr>
          <a:xfrm>
            <a:off x="1143720" y="3464640"/>
            <a:ext cx="4537440" cy="729360"/>
            <a:chOff x="1143720" y="3464640"/>
            <a:chExt cx="4537440" cy="729360"/>
          </a:xfrm>
        </p:grpSpPr>
        <p:sp>
          <p:nvSpPr>
            <p:cNvPr id="163" name="文本框 3"/>
            <p:cNvSpPr/>
            <p:nvPr/>
          </p:nvSpPr>
          <p:spPr>
            <a:xfrm>
              <a:off x="1935720" y="3626640"/>
              <a:ext cx="3745440" cy="51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zh-CN" sz="2800" spc="-1" strike="noStrike">
                  <a:solidFill>
                    <a:srgbClr val="808080"/>
                  </a:solidFill>
                  <a:latin typeface="微软雅黑"/>
                  <a:ea typeface="微软雅黑"/>
                </a:rPr>
                <a:t>课题概况与研究内容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64" name="剪去对角的矩形 9"/>
            <p:cNvSpPr/>
            <p:nvPr/>
          </p:nvSpPr>
          <p:spPr>
            <a:xfrm>
              <a:off x="1143720" y="3610800"/>
              <a:ext cx="541800" cy="541800"/>
            </a:xfrm>
            <a:prstGeom prst="snip2DiagRect">
              <a:avLst>
                <a:gd name="adj1" fmla="val 0"/>
                <a:gd name="adj2" fmla="val 24873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65" name="文本框 12"/>
            <p:cNvSpPr/>
            <p:nvPr/>
          </p:nvSpPr>
          <p:spPr>
            <a:xfrm>
              <a:off x="1143720" y="3464640"/>
              <a:ext cx="579960" cy="72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en-US" sz="2800" spc="-1" strike="noStrike">
                  <a:solidFill>
                    <a:srgbClr val="ffffff"/>
                  </a:solidFill>
                  <a:latin typeface="Impact"/>
                  <a:ea typeface="微软雅黑"/>
                </a:rPr>
                <a:t>01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66" name="直接连接符 10"/>
            <p:cNvSpPr/>
            <p:nvPr/>
          </p:nvSpPr>
          <p:spPr>
            <a:xfrm>
              <a:off x="1873800" y="3601080"/>
              <a:ext cx="360" cy="565560"/>
            </a:xfrm>
            <a:prstGeom prst="line">
              <a:avLst/>
            </a:prstGeom>
            <a:ln w="127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67" name="组合 34"/>
          <p:cNvGrpSpPr/>
          <p:nvPr/>
        </p:nvGrpSpPr>
        <p:grpSpPr>
          <a:xfrm>
            <a:off x="1143000" y="4626000"/>
            <a:ext cx="4537440" cy="729360"/>
            <a:chOff x="1143000" y="4626000"/>
            <a:chExt cx="4537440" cy="729360"/>
          </a:xfrm>
        </p:grpSpPr>
        <p:sp>
          <p:nvSpPr>
            <p:cNvPr id="168" name="文本框 35"/>
            <p:cNvSpPr/>
            <p:nvPr/>
          </p:nvSpPr>
          <p:spPr>
            <a:xfrm>
              <a:off x="1935000" y="4788000"/>
              <a:ext cx="3745440" cy="51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zh-CN" sz="2800" spc="-1" strike="noStrike">
                  <a:solidFill>
                    <a:srgbClr val="808080"/>
                  </a:solidFill>
                  <a:latin typeface="微软雅黑"/>
                  <a:ea typeface="微软雅黑"/>
                </a:rPr>
                <a:t>任务与指标完成情况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69" name="剪去对角的矩形 36"/>
            <p:cNvSpPr/>
            <p:nvPr/>
          </p:nvSpPr>
          <p:spPr>
            <a:xfrm>
              <a:off x="1143000" y="4772160"/>
              <a:ext cx="541800" cy="541800"/>
            </a:xfrm>
            <a:prstGeom prst="snip2DiagRect">
              <a:avLst>
                <a:gd name="adj1" fmla="val 0"/>
                <a:gd name="adj2" fmla="val 24873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70" name="文本框 37"/>
            <p:cNvSpPr/>
            <p:nvPr/>
          </p:nvSpPr>
          <p:spPr>
            <a:xfrm>
              <a:off x="1143000" y="4626000"/>
              <a:ext cx="579960" cy="72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en-US" sz="2800" spc="-1" strike="noStrike">
                  <a:solidFill>
                    <a:srgbClr val="ffffff"/>
                  </a:solidFill>
                  <a:latin typeface="Impact"/>
                  <a:ea typeface="微软雅黑"/>
                </a:rPr>
                <a:t>02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71" name="直接连接符 17"/>
            <p:cNvSpPr/>
            <p:nvPr/>
          </p:nvSpPr>
          <p:spPr>
            <a:xfrm>
              <a:off x="1873080" y="4762440"/>
              <a:ext cx="360" cy="565920"/>
            </a:xfrm>
            <a:prstGeom prst="line">
              <a:avLst/>
            </a:prstGeom>
            <a:ln w="127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72" name="组合 39"/>
          <p:cNvGrpSpPr/>
          <p:nvPr/>
        </p:nvGrpSpPr>
        <p:grpSpPr>
          <a:xfrm>
            <a:off x="6541200" y="3517920"/>
            <a:ext cx="4537440" cy="729360"/>
            <a:chOff x="6541200" y="3517920"/>
            <a:chExt cx="4537440" cy="729360"/>
          </a:xfrm>
        </p:grpSpPr>
        <p:sp>
          <p:nvSpPr>
            <p:cNvPr id="173" name="文本框 40"/>
            <p:cNvSpPr/>
            <p:nvPr/>
          </p:nvSpPr>
          <p:spPr>
            <a:xfrm>
              <a:off x="7333200" y="3679920"/>
              <a:ext cx="3745440" cy="51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28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技术细节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74" name="剪去对角的矩形 41"/>
            <p:cNvSpPr/>
            <p:nvPr/>
          </p:nvSpPr>
          <p:spPr>
            <a:xfrm>
              <a:off x="6541200" y="3664080"/>
              <a:ext cx="541800" cy="541800"/>
            </a:xfrm>
            <a:prstGeom prst="snip2DiagRect">
              <a:avLst>
                <a:gd name="adj1" fmla="val 0"/>
                <a:gd name="adj2" fmla="val 24873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75" name="文本框 42"/>
            <p:cNvSpPr/>
            <p:nvPr/>
          </p:nvSpPr>
          <p:spPr>
            <a:xfrm>
              <a:off x="6541200" y="3517920"/>
              <a:ext cx="579960" cy="72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en-US" sz="2800" spc="-1" strike="noStrike">
                  <a:solidFill>
                    <a:srgbClr val="ffffff"/>
                  </a:solidFill>
                  <a:latin typeface="Impact"/>
                  <a:ea typeface="微软雅黑"/>
                </a:rPr>
                <a:t>03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76" name="直接连接符 22"/>
            <p:cNvSpPr/>
            <p:nvPr/>
          </p:nvSpPr>
          <p:spPr>
            <a:xfrm>
              <a:off x="7271280" y="3654360"/>
              <a:ext cx="360" cy="565560"/>
            </a:xfrm>
            <a:prstGeom prst="line">
              <a:avLst/>
            </a:prstGeom>
            <a:ln w="127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77" name="组合 44"/>
          <p:cNvGrpSpPr/>
          <p:nvPr/>
        </p:nvGrpSpPr>
        <p:grpSpPr>
          <a:xfrm>
            <a:off x="6541920" y="4674600"/>
            <a:ext cx="4537080" cy="729360"/>
            <a:chOff x="6541920" y="4674600"/>
            <a:chExt cx="4537080" cy="729360"/>
          </a:xfrm>
        </p:grpSpPr>
        <p:sp>
          <p:nvSpPr>
            <p:cNvPr id="178" name="文本框 45"/>
            <p:cNvSpPr/>
            <p:nvPr/>
          </p:nvSpPr>
          <p:spPr>
            <a:xfrm>
              <a:off x="7333560" y="4836600"/>
              <a:ext cx="3745440" cy="51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zh-CN" sz="2800" spc="-1" strike="noStrike">
                  <a:solidFill>
                    <a:srgbClr val="808080"/>
                  </a:solidFill>
                  <a:latin typeface="微软雅黑"/>
                  <a:ea typeface="微软雅黑"/>
                </a:rPr>
                <a:t>课题管理与风险分析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79" name="剪去对角的矩形 46"/>
            <p:cNvSpPr/>
            <p:nvPr/>
          </p:nvSpPr>
          <p:spPr>
            <a:xfrm>
              <a:off x="6541920" y="4820760"/>
              <a:ext cx="541800" cy="541800"/>
            </a:xfrm>
            <a:prstGeom prst="snip2DiagRect">
              <a:avLst>
                <a:gd name="adj1" fmla="val 0"/>
                <a:gd name="adj2" fmla="val 24873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80" name="文本框 47"/>
            <p:cNvSpPr/>
            <p:nvPr/>
          </p:nvSpPr>
          <p:spPr>
            <a:xfrm>
              <a:off x="6541920" y="4674600"/>
              <a:ext cx="579960" cy="729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en-US" sz="2800" spc="-1" strike="noStrike">
                  <a:solidFill>
                    <a:srgbClr val="ffffff"/>
                  </a:solidFill>
                  <a:latin typeface="Impact"/>
                  <a:ea typeface="微软雅黑"/>
                </a:rPr>
                <a:t>04</a:t>
              </a:r>
              <a:endParaRPr b="0" lang="en-US" sz="2800" spc="-1" strike="noStrike">
                <a:latin typeface="Arial"/>
              </a:endParaRPr>
            </a:p>
          </p:txBody>
        </p:sp>
        <p:sp>
          <p:nvSpPr>
            <p:cNvPr id="181" name="直接连接符 27"/>
            <p:cNvSpPr/>
            <p:nvPr/>
          </p:nvSpPr>
          <p:spPr>
            <a:xfrm>
              <a:off x="7272000" y="4811040"/>
              <a:ext cx="360" cy="565920"/>
            </a:xfrm>
            <a:prstGeom prst="line">
              <a:avLst/>
            </a:prstGeom>
            <a:ln w="127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mc:AlternateContent>
    <mc:Choice Requires="p14">
      <p:transition spd="med" p14:dur="999"/>
    </mc:Choice>
    <mc:Fallback>
      <p:transition spd="med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"/>
          <p:cNvSpPr txBox="1"/>
          <p:nvPr/>
        </p:nvSpPr>
        <p:spPr>
          <a:xfrm>
            <a:off x="669600" y="464400"/>
            <a:ext cx="107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200" spc="-1" strike="noStrike">
                <a:solidFill>
                  <a:srgbClr val="000000"/>
                </a:solidFill>
                <a:latin typeface="Microsoft YaHei"/>
              </a:rPr>
              <a:t>三项重点技术任务与总体链路</a:t>
            </a:r>
            <a:endParaRPr b="1" lang="en-US" sz="3200" spc="-1" strike="noStrike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676800" y="1314000"/>
            <a:ext cx="1522800" cy="597600"/>
          </a:xfrm>
          <a:prstGeom prst="rect">
            <a:avLst/>
          </a:prstGeom>
          <a:solidFill>
            <a:srgbClr val="ffffff"/>
          </a:solidFill>
          <a:ln w="25200">
            <a:solidFill>
              <a:srgbClr val="2d2d8a"/>
            </a:solidFill>
            <a:round/>
          </a:ln>
        </p:spPr>
        <p:txBody>
          <a:bodyPr lIns="102600" rIns="102600" tIns="57600" bIns="57600" anchor="ctr">
            <a:noAutofit/>
          </a:bodyPr>
          <a:p>
            <a:pPr algn="ctr">
              <a:buNone/>
            </a:pPr>
            <a:r>
              <a:rPr b="1" lang="zh-CN" sz="2400" spc="-1" strike="noStrike">
                <a:solidFill>
                  <a:srgbClr val="002060"/>
                </a:solidFill>
                <a:latin typeface="Microsoft YaHei"/>
              </a:rPr>
              <a:t>主要难点</a:t>
            </a:r>
            <a:endParaRPr b="1" lang="en-US" sz="2400" spc="-1" strike="noStrike">
              <a:solidFill>
                <a:srgbClr val="002060"/>
              </a:solidFill>
              <a:latin typeface="Microsoft YaHei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2196000" y="1314000"/>
            <a:ext cx="9154800" cy="597600"/>
          </a:xfrm>
          <a:prstGeom prst="rect">
            <a:avLst/>
          </a:prstGeom>
          <a:solidFill>
            <a:srgbClr val="ffffff"/>
          </a:solidFill>
          <a:ln w="25200">
            <a:solidFill>
              <a:srgbClr val="002060"/>
            </a:solidFill>
            <a:custDash>
              <a:ds d="28571" sp="28571"/>
              <a:ds d="28571" sp="28571"/>
            </a:custDash>
            <a:round/>
          </a:ln>
        </p:spPr>
        <p:txBody>
          <a:bodyPr lIns="102600" rIns="102600" tIns="57600" bIns="57600" anchor="ctr">
            <a:noAutofit/>
          </a:bodyPr>
          <a:p>
            <a:r>
              <a:rPr b="1" lang="en-US" sz="2300" spc="-1" strike="noStrike">
                <a:solidFill>
                  <a:srgbClr val="c00000"/>
                </a:solidFill>
                <a:latin typeface="Microsoft YaHei"/>
              </a:rPr>
              <a:t>□ </a:t>
            </a:r>
            <a:r>
              <a:rPr b="1" lang="zh-CN" sz="2300" spc="-1" strike="noStrike">
                <a:solidFill>
                  <a:srgbClr val="000000"/>
                </a:solidFill>
                <a:latin typeface="Microsoft YaHei"/>
              </a:rPr>
              <a:t>正确行为难定义、稀疏异常路径难激活、非崩溃偏轨难验证。</a:t>
            </a:r>
            <a:endParaRPr b="1" lang="en-US" sz="2300" spc="-1" strike="noStrike">
              <a:solidFill>
                <a:srgbClr val="000000"/>
              </a:solidFill>
              <a:latin typeface="Microsoft YaHei"/>
            </a:endParaRPr>
          </a:p>
        </p:txBody>
      </p:sp>
      <p:pic>
        <p:nvPicPr>
          <p:cNvPr id="185" name="" descr=""/>
          <p:cNvPicPr/>
          <p:nvPr/>
        </p:nvPicPr>
        <p:blipFill>
          <a:blip r:embed="rId1"/>
          <a:stretch/>
        </p:blipFill>
        <p:spPr>
          <a:xfrm>
            <a:off x="576000" y="1951200"/>
            <a:ext cx="10980000" cy="3661200"/>
          </a:xfrm>
          <a:prstGeom prst="rect">
            <a:avLst/>
          </a:prstGeom>
          <a:ln w="0">
            <a:noFill/>
          </a:ln>
        </p:spPr>
      </p:pic>
      <p:sp>
        <p:nvSpPr>
          <p:cNvPr id="186" name=""/>
          <p:cNvSpPr txBox="1"/>
          <p:nvPr/>
        </p:nvSpPr>
        <p:spPr>
          <a:xfrm>
            <a:off x="676800" y="5738400"/>
            <a:ext cx="1263600" cy="954000"/>
          </a:xfrm>
          <a:prstGeom prst="rect">
            <a:avLst/>
          </a:prstGeom>
          <a:solidFill>
            <a:srgbClr val="ffffff"/>
          </a:solidFill>
          <a:ln w="25200">
            <a:solidFill>
              <a:srgbClr val="2d2d8a"/>
            </a:solidFill>
            <a:round/>
          </a:ln>
        </p:spPr>
        <p:txBody>
          <a:bodyPr lIns="102600" rIns="102600" tIns="57600" bIns="57600" anchor="ctr">
            <a:noAutofit/>
          </a:bodyPr>
          <a:p>
            <a:pPr algn="ctr">
              <a:buNone/>
            </a:pPr>
            <a:r>
              <a:rPr b="1" lang="zh-CN" sz="2400" spc="-1" strike="noStrike">
                <a:solidFill>
                  <a:srgbClr val="002060"/>
                </a:solidFill>
                <a:latin typeface="Microsoft YaHei"/>
              </a:rPr>
              <a:t>方 法</a:t>
            </a:r>
            <a:endParaRPr b="1" lang="en-US" sz="2400" spc="-1" strike="noStrike">
              <a:solidFill>
                <a:srgbClr val="002060"/>
              </a:solidFill>
              <a:latin typeface="Microsoft YaHei"/>
            </a:endParaRPr>
          </a:p>
          <a:p>
            <a:pPr algn="ctr">
              <a:buNone/>
            </a:pPr>
            <a:r>
              <a:rPr b="1" lang="zh-CN" sz="2400" spc="-1" strike="noStrike">
                <a:solidFill>
                  <a:srgbClr val="002060"/>
                </a:solidFill>
                <a:latin typeface="Microsoft YaHei"/>
              </a:rPr>
              <a:t>创 新</a:t>
            </a:r>
            <a:endParaRPr b="1" lang="en-US" sz="2400" spc="-1" strike="noStrike">
              <a:solidFill>
                <a:srgbClr val="002060"/>
              </a:solidFill>
              <a:latin typeface="Microsoft YaHei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2008800" y="5738400"/>
            <a:ext cx="9342000" cy="752040"/>
          </a:xfrm>
          <a:prstGeom prst="rect">
            <a:avLst/>
          </a:prstGeom>
          <a:solidFill>
            <a:srgbClr val="ffffff"/>
          </a:solidFill>
          <a:ln w="25200">
            <a:solidFill>
              <a:srgbClr val="002060"/>
            </a:solidFill>
            <a:custDash>
              <a:ds d="28571" sp="28571"/>
              <a:ds d="28571" sp="28571"/>
            </a:custDash>
            <a:round/>
          </a:ln>
        </p:spPr>
        <p:txBody>
          <a:bodyPr lIns="102600" rIns="102600" tIns="57600" bIns="57600" anchor="ctr">
            <a:noAutofit/>
          </a:bodyPr>
          <a:p>
            <a:r>
              <a:rPr b="1" lang="en-US" sz="1800" spc="-1" strike="noStrike">
                <a:solidFill>
                  <a:srgbClr val="000000"/>
                </a:solidFill>
                <a:latin typeface="Microsoft YaHei"/>
              </a:rPr>
              <a:t>□ </a:t>
            </a:r>
            <a:r>
              <a:rPr b="1" lang="zh-CN" sz="1800" spc="-1" strike="noStrike">
                <a:solidFill>
                  <a:srgbClr val="000000"/>
                </a:solidFill>
                <a:latin typeface="Microsoft YaHei"/>
              </a:rPr>
              <a:t>先从系统规范中明确机器人在不同状态下应当怎样响应，再生成带有控制语义的测试输入，最后结合仿真记录和回放结果确认异常是否稳定存在。</a:t>
            </a:r>
            <a:endParaRPr b="1" lang="en-US" sz="1800" spc="-1" strike="noStrike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2008800" y="6174000"/>
            <a:ext cx="9342000" cy="752040"/>
          </a:xfrm>
          <a:prstGeom prst="rect">
            <a:avLst/>
          </a:prstGeom>
          <a:solidFill>
            <a:srgbClr val="ffffff"/>
          </a:solidFill>
          <a:ln w="25200">
            <a:solidFill>
              <a:srgbClr val="002060"/>
            </a:solidFill>
            <a:custDash>
              <a:ds d="28571" sp="28571"/>
              <a:ds d="28571" sp="28571"/>
            </a:custDash>
            <a:round/>
          </a:ln>
        </p:spPr>
        <p:txBody>
          <a:bodyPr lIns="102600" rIns="102600" tIns="57600" bIns="57600" anchor="ctr">
            <a:noAutofit/>
          </a:bodyPr>
          <a:p>
            <a:r>
              <a:rPr b="1" lang="en-US" sz="1800" spc="-1" strike="noStrike">
                <a:solidFill>
                  <a:srgbClr val="000000"/>
                </a:solidFill>
                <a:latin typeface="Microsoft YaHei"/>
              </a:rPr>
              <a:t>□ </a:t>
            </a:r>
            <a:r>
              <a:rPr b="1" lang="zh-CN" sz="1800" spc="-1" strike="noStrike">
                <a:solidFill>
                  <a:srgbClr val="000000"/>
                </a:solidFill>
                <a:latin typeface="Microsoft YaHei"/>
              </a:rPr>
              <a:t>把前述工作接成一个能够相互反馈的测试流程：验证阶段发现的问题可以反过来补充规则并调整后续输入，使测试不只是增加轮次，而是逐步逼近真正有价值的问题。</a:t>
            </a:r>
            <a:endParaRPr b="1" lang="en-US" sz="1800" spc="-1" strike="noStrike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2008800" y="6573600"/>
            <a:ext cx="9342000" cy="75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zh-CN" sz="1250" spc="-1" strike="noStrike">
                <a:solidFill>
                  <a:srgbClr val="5f6b76"/>
                </a:solidFill>
                <a:latin typeface="Microsoft YaHei"/>
              </a:rPr>
              <a:t>当前已形成跨目标仿真侧原型，不同目标成熟度不一；实物差分与正式漏洞编号为下一阶段。</a:t>
            </a:r>
            <a:endParaRPr b="0" lang="en-US" sz="1250" spc="-1" strike="noStrike">
              <a:solidFill>
                <a:srgbClr val="5f6b76"/>
              </a:solidFill>
              <a:latin typeface="Microsoft YaHei"/>
            </a:endParaRPr>
          </a:p>
        </p:txBody>
      </p:sp>
    </p:spTree>
  </p:cSld>
  <mc:AlternateContent>
    <mc:Choice Requires="p14">
      <p:transition p14:dur="10"/>
    </mc:Choice>
    <mc:Fallback>
      <p:transition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 txBox="1"/>
          <p:nvPr/>
        </p:nvSpPr>
        <p:spPr>
          <a:xfrm>
            <a:off x="669600" y="464400"/>
            <a:ext cx="1072800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200" spc="-1" strike="noStrike">
                <a:solidFill>
                  <a:srgbClr val="000000"/>
                </a:solidFill>
                <a:latin typeface="Microsoft YaHei"/>
              </a:rPr>
              <a:t>任务一：规范驱动的语义约束提取与行为 </a:t>
            </a:r>
            <a:r>
              <a:rPr b="1" lang="en-US" sz="3200" spc="-1" strike="noStrike">
                <a:solidFill>
                  <a:srgbClr val="000000"/>
                </a:solidFill>
                <a:latin typeface="Microsoft YaHei"/>
              </a:rPr>
              <a:t>Oracle </a:t>
            </a:r>
            <a:r>
              <a:rPr b="1" lang="zh-CN" sz="3200" spc="-1" strike="noStrike">
                <a:solidFill>
                  <a:srgbClr val="000000"/>
                </a:solidFill>
                <a:latin typeface="Microsoft YaHei"/>
              </a:rPr>
              <a:t>构建</a:t>
            </a:r>
            <a:endParaRPr b="1" lang="en-US" sz="3200" spc="-1" strike="noStrike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676800" y="1314000"/>
            <a:ext cx="1522800" cy="597600"/>
          </a:xfrm>
          <a:prstGeom prst="rect">
            <a:avLst/>
          </a:prstGeom>
          <a:solidFill>
            <a:srgbClr val="ffffff"/>
          </a:solidFill>
          <a:ln w="25200">
            <a:solidFill>
              <a:srgbClr val="2d2d8a"/>
            </a:solidFill>
            <a:round/>
          </a:ln>
        </p:spPr>
        <p:txBody>
          <a:bodyPr lIns="102600" rIns="102600" tIns="57600" bIns="57600" anchor="ctr">
            <a:noAutofit/>
          </a:bodyPr>
          <a:p>
            <a:pPr algn="ctr">
              <a:buNone/>
            </a:pPr>
            <a:r>
              <a:rPr b="1" lang="zh-CN" sz="2400" spc="-1" strike="noStrike">
                <a:solidFill>
                  <a:srgbClr val="002060"/>
                </a:solidFill>
                <a:latin typeface="Microsoft YaHei"/>
              </a:rPr>
              <a:t>主要难点</a:t>
            </a:r>
            <a:endParaRPr b="1" lang="en-US" sz="2400" spc="-1" strike="noStrike">
              <a:solidFill>
                <a:srgbClr val="002060"/>
              </a:solidFill>
              <a:latin typeface="Microsoft YaHei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2196000" y="1314000"/>
            <a:ext cx="9154800" cy="597600"/>
          </a:xfrm>
          <a:prstGeom prst="rect">
            <a:avLst/>
          </a:prstGeom>
          <a:solidFill>
            <a:srgbClr val="ffffff"/>
          </a:solidFill>
          <a:ln w="25200">
            <a:solidFill>
              <a:srgbClr val="002060"/>
            </a:solidFill>
            <a:custDash>
              <a:ds d="28571" sp="28571"/>
              <a:ds d="28571" sp="28571"/>
            </a:custDash>
            <a:round/>
          </a:ln>
        </p:spPr>
        <p:txBody>
          <a:bodyPr lIns="102600" rIns="102600" tIns="57600" bIns="57600" anchor="ctr">
            <a:noAutofit/>
          </a:bodyPr>
          <a:p>
            <a:r>
              <a:rPr b="1" lang="en-US" sz="2300" spc="-1" strike="noStrike">
                <a:solidFill>
                  <a:srgbClr val="c00000"/>
                </a:solidFill>
                <a:latin typeface="Microsoft YaHei"/>
              </a:rPr>
              <a:t>□ </a:t>
            </a:r>
            <a:r>
              <a:rPr b="1" lang="zh-CN" sz="2300" spc="-1" strike="noStrike">
                <a:solidFill>
                  <a:srgbClr val="c00000"/>
                </a:solidFill>
                <a:latin typeface="Microsoft YaHei"/>
              </a:rPr>
              <a:t>建模难：</a:t>
            </a:r>
            <a:r>
              <a:rPr b="1" lang="zh-CN" sz="2300" spc="-1" strike="noStrike">
                <a:solidFill>
                  <a:srgbClr val="000000"/>
                </a:solidFill>
                <a:latin typeface="Microsoft YaHei"/>
              </a:rPr>
              <a:t>多源规范异构、跨模块约束隐含，难以形成可执行且可追溯的行为判据。</a:t>
            </a:r>
            <a:endParaRPr b="1" lang="en-US" sz="2300" spc="-1" strike="noStrike">
              <a:solidFill>
                <a:srgbClr val="000000"/>
              </a:solidFill>
              <a:latin typeface="Microsoft YaHei"/>
            </a:endParaRPr>
          </a:p>
        </p:txBody>
      </p:sp>
      <p:pic>
        <p:nvPicPr>
          <p:cNvPr id="193" name="" descr=""/>
          <p:cNvPicPr/>
          <p:nvPr/>
        </p:nvPicPr>
        <p:blipFill>
          <a:blip r:embed="rId1"/>
          <a:stretch/>
        </p:blipFill>
        <p:spPr>
          <a:xfrm>
            <a:off x="576000" y="1951200"/>
            <a:ext cx="10980000" cy="3661200"/>
          </a:xfrm>
          <a:prstGeom prst="rect">
            <a:avLst/>
          </a:prstGeom>
          <a:ln w="0">
            <a:noFill/>
          </a:ln>
        </p:spPr>
      </p:pic>
      <p:sp>
        <p:nvSpPr>
          <p:cNvPr id="194" name=""/>
          <p:cNvSpPr txBox="1"/>
          <p:nvPr/>
        </p:nvSpPr>
        <p:spPr>
          <a:xfrm>
            <a:off x="676800" y="5738400"/>
            <a:ext cx="1263600" cy="954000"/>
          </a:xfrm>
          <a:prstGeom prst="rect">
            <a:avLst/>
          </a:prstGeom>
          <a:solidFill>
            <a:srgbClr val="ffffff"/>
          </a:solidFill>
          <a:ln w="25200">
            <a:solidFill>
              <a:srgbClr val="2d2d8a"/>
            </a:solidFill>
            <a:round/>
          </a:ln>
        </p:spPr>
        <p:txBody>
          <a:bodyPr lIns="102600" rIns="102600" tIns="57600" bIns="57600" anchor="ctr">
            <a:noAutofit/>
          </a:bodyPr>
          <a:p>
            <a:pPr algn="ctr">
              <a:buNone/>
            </a:pPr>
            <a:r>
              <a:rPr b="1" lang="zh-CN" sz="2400" spc="-1" strike="noStrike">
                <a:solidFill>
                  <a:srgbClr val="002060"/>
                </a:solidFill>
                <a:latin typeface="Microsoft YaHei"/>
              </a:rPr>
              <a:t>方 法</a:t>
            </a:r>
            <a:endParaRPr b="1" lang="en-US" sz="2400" spc="-1" strike="noStrike">
              <a:solidFill>
                <a:srgbClr val="002060"/>
              </a:solidFill>
              <a:latin typeface="Microsoft YaHei"/>
            </a:endParaRPr>
          </a:p>
          <a:p>
            <a:pPr algn="ctr">
              <a:buNone/>
            </a:pPr>
            <a:r>
              <a:rPr b="1" lang="zh-CN" sz="2400" spc="-1" strike="noStrike">
                <a:solidFill>
                  <a:srgbClr val="002060"/>
                </a:solidFill>
                <a:latin typeface="Microsoft YaHei"/>
              </a:rPr>
              <a:t>创 新</a:t>
            </a:r>
            <a:endParaRPr b="1" lang="en-US" sz="2400" spc="-1" strike="noStrike">
              <a:solidFill>
                <a:srgbClr val="002060"/>
              </a:solidFill>
              <a:latin typeface="Microsoft YaHei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008800" y="5738400"/>
            <a:ext cx="9342000" cy="752040"/>
          </a:xfrm>
          <a:prstGeom prst="rect">
            <a:avLst/>
          </a:prstGeom>
          <a:solidFill>
            <a:srgbClr val="ffffff"/>
          </a:solidFill>
          <a:ln w="25200">
            <a:solidFill>
              <a:srgbClr val="002060"/>
            </a:solidFill>
            <a:custDash>
              <a:ds d="28571" sp="28571"/>
              <a:ds d="28571" sp="28571"/>
            </a:custDash>
            <a:round/>
          </a:ln>
        </p:spPr>
        <p:txBody>
          <a:bodyPr lIns="102600" rIns="102600" tIns="57600" bIns="57600" anchor="ctr">
            <a:noAutofit/>
          </a:bodyPr>
          <a:p>
            <a:r>
              <a:rPr b="1" lang="en-US" sz="1800" spc="-1" strike="noStrike">
                <a:solidFill>
                  <a:srgbClr val="000000"/>
                </a:solidFill>
                <a:latin typeface="Microsoft YaHei"/>
              </a:rPr>
              <a:t>□ </a:t>
            </a:r>
            <a:r>
              <a:rPr b="1" lang="zh-CN" sz="1800" spc="-1" strike="noStrike">
                <a:solidFill>
                  <a:srgbClr val="000000"/>
                </a:solidFill>
                <a:latin typeface="Microsoft YaHei"/>
              </a:rPr>
              <a:t>先按文件类型分别处理</a:t>
            </a:r>
            <a:r>
              <a:rPr b="1" lang="en-US" sz="1800" spc="-1" strike="noStrike">
                <a:solidFill>
                  <a:srgbClr val="000000"/>
                </a:solidFill>
                <a:latin typeface="Microsoft YaHei"/>
              </a:rPr>
              <a:t>Launch</a:t>
            </a:r>
            <a:r>
              <a:rPr b="1" lang="zh-CN" sz="1800" spc="-1" strike="noStrike">
                <a:solidFill>
                  <a:srgbClr val="000000"/>
                </a:solidFill>
                <a:latin typeface="Microsoft YaHei"/>
              </a:rPr>
              <a:t>、</a:t>
            </a:r>
            <a:r>
              <a:rPr b="1" lang="en-US" sz="1800" spc="-1" strike="noStrike">
                <a:solidFill>
                  <a:srgbClr val="000000"/>
                </a:solidFill>
                <a:latin typeface="Microsoft YaHei"/>
              </a:rPr>
              <a:t>YAML</a:t>
            </a:r>
            <a:r>
              <a:rPr b="1" lang="zh-CN" sz="1800" spc="-1" strike="noStrike">
                <a:solidFill>
                  <a:srgbClr val="000000"/>
                </a:solidFill>
                <a:latin typeface="Microsoft YaHei"/>
              </a:rPr>
              <a:t>、接口、源码和说明文档，把与控制行为有关的内容整理成能够追溯到原文的规范片段，再据此生成结构化约束。</a:t>
            </a:r>
            <a:endParaRPr b="1" lang="en-US" sz="1800" spc="-1" strike="noStrike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2008800" y="6174000"/>
            <a:ext cx="9342000" cy="10828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2060"/>
            </a:solidFill>
            <a:custDash>
              <a:ds d="28571" sp="28571"/>
              <a:ds d="28571" sp="28571"/>
            </a:custDash>
            <a:round/>
          </a:ln>
        </p:spPr>
        <p:txBody>
          <a:bodyPr lIns="102600" rIns="102600" tIns="57600" bIns="57600" anchor="ctr">
            <a:noAutofit/>
          </a:bodyPr>
          <a:p>
            <a:r>
              <a:rPr b="1" lang="en-US" sz="1800" spc="-1" strike="noStrike">
                <a:solidFill>
                  <a:srgbClr val="000000"/>
                </a:solidFill>
                <a:latin typeface="Microsoft YaHei"/>
              </a:rPr>
              <a:t>□ </a:t>
            </a:r>
            <a:r>
              <a:rPr b="1" lang="zh-CN" sz="1800" spc="-1" strike="noStrike">
                <a:solidFill>
                  <a:srgbClr val="000000"/>
                </a:solidFill>
                <a:latin typeface="Microsoft YaHei"/>
              </a:rPr>
              <a:t>生成</a:t>
            </a:r>
            <a:r>
              <a:rPr b="1" lang="en-US" sz="1800" spc="-1" strike="noStrike">
                <a:solidFill>
                  <a:srgbClr val="000000"/>
                </a:solidFill>
                <a:latin typeface="Microsoft YaHei"/>
              </a:rPr>
              <a:t>Oracle</a:t>
            </a:r>
            <a:r>
              <a:rPr b="1" lang="zh-CN" sz="1800" spc="-1" strike="noStrike">
                <a:solidFill>
                  <a:srgbClr val="000000"/>
                </a:solidFill>
                <a:latin typeface="Microsoft YaHei"/>
              </a:rPr>
              <a:t>时，先找到与当前行为有关的规范，再检查字段、单位、适用状态和时间条件；对于依赖具体话题或状态机的规则，再结合目标系统补充上下文，避免把模型生成内容直接当作最终判断代码。</a:t>
            </a:r>
            <a:endParaRPr b="1" lang="en-US" sz="1800" spc="-1" strike="noStrike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2008800" y="6573600"/>
            <a:ext cx="9342000" cy="421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zh-CN" sz="1250" spc="-1" strike="noStrike">
                <a:solidFill>
                  <a:srgbClr val="5f6b76"/>
                </a:solidFill>
                <a:latin typeface="Microsoft YaHei"/>
              </a:rPr>
              <a:t>并非</a:t>
            </a:r>
            <a:r>
              <a:rPr b="0" lang="en-US" sz="1250" spc="-1" strike="noStrike">
                <a:solidFill>
                  <a:srgbClr val="5f6b76"/>
                </a:solidFill>
                <a:latin typeface="Microsoft YaHei"/>
              </a:rPr>
              <a:t>151</a:t>
            </a:r>
            <a:r>
              <a:rPr b="0" lang="zh-CN" sz="1250" spc="-1" strike="noStrike">
                <a:solidFill>
                  <a:srgbClr val="5f6b76"/>
                </a:solidFill>
                <a:latin typeface="Microsoft YaHei"/>
              </a:rPr>
              <a:t>份</a:t>
            </a:r>
            <a:r>
              <a:rPr b="0" lang="en-US" sz="1250" spc="-1" strike="noStrike">
                <a:solidFill>
                  <a:srgbClr val="5f6b76"/>
                </a:solidFill>
                <a:latin typeface="Microsoft YaHei"/>
              </a:rPr>
              <a:t>IR</a:t>
            </a:r>
            <a:r>
              <a:rPr b="0" lang="zh-CN" sz="1250" spc="-1" strike="noStrike">
                <a:solidFill>
                  <a:srgbClr val="5f6b76"/>
                </a:solidFill>
                <a:latin typeface="Microsoft YaHei"/>
              </a:rPr>
              <a:t>均已逐条在线执行；复杂约束仍需结合具体目标上下文。</a:t>
            </a:r>
            <a:endParaRPr b="0" lang="en-US" sz="1250" spc="-1" strike="noStrike">
              <a:solidFill>
                <a:srgbClr val="5f6b76"/>
              </a:solidFill>
              <a:latin typeface="Microsoft YaHei"/>
            </a:endParaRPr>
          </a:p>
        </p:txBody>
      </p:sp>
    </p:spTree>
  </p:cSld>
  <mc:AlternateContent>
    <mc:Choice Requires="p14">
      <p:transition p14:dur="10"/>
    </mc:Choice>
    <mc:Fallback>
      <p:transition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"/>
          <p:cNvSpPr txBox="1"/>
          <p:nvPr/>
        </p:nvSpPr>
        <p:spPr>
          <a:xfrm>
            <a:off x="669600" y="464400"/>
            <a:ext cx="107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200" spc="-1" strike="noStrike">
                <a:solidFill>
                  <a:srgbClr val="000000"/>
                </a:solidFill>
                <a:latin typeface="Microsoft YaHei"/>
              </a:rPr>
              <a:t>任务二：基于语义反馈的扰动输入生成与种子调度</a:t>
            </a:r>
            <a:endParaRPr b="1" lang="en-US" sz="3200" spc="-1" strike="noStrike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76800" y="1314000"/>
            <a:ext cx="1522800" cy="597600"/>
          </a:xfrm>
          <a:prstGeom prst="rect">
            <a:avLst/>
          </a:prstGeom>
          <a:solidFill>
            <a:srgbClr val="ffffff"/>
          </a:solidFill>
          <a:ln w="25200">
            <a:solidFill>
              <a:srgbClr val="2d2d8a"/>
            </a:solidFill>
            <a:round/>
          </a:ln>
        </p:spPr>
        <p:txBody>
          <a:bodyPr lIns="102600" rIns="102600" tIns="57600" bIns="57600" anchor="ctr">
            <a:noAutofit/>
          </a:bodyPr>
          <a:p>
            <a:pPr algn="ctr">
              <a:buNone/>
            </a:pPr>
            <a:r>
              <a:rPr b="1" lang="zh-CN" sz="2400" spc="-1" strike="noStrike">
                <a:solidFill>
                  <a:srgbClr val="002060"/>
                </a:solidFill>
                <a:latin typeface="Microsoft YaHei"/>
              </a:rPr>
              <a:t>主要难点</a:t>
            </a:r>
            <a:endParaRPr b="1" lang="en-US" sz="2400" spc="-1" strike="noStrike">
              <a:solidFill>
                <a:srgbClr val="002060"/>
              </a:solidFill>
              <a:latin typeface="Microsoft YaHei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2196000" y="1314000"/>
            <a:ext cx="9154800" cy="597600"/>
          </a:xfrm>
          <a:prstGeom prst="rect">
            <a:avLst/>
          </a:prstGeom>
          <a:solidFill>
            <a:srgbClr val="ffffff"/>
          </a:solidFill>
          <a:ln w="25200">
            <a:solidFill>
              <a:srgbClr val="002060"/>
            </a:solidFill>
            <a:custDash>
              <a:ds d="28571" sp="28571"/>
              <a:ds d="28571" sp="28571"/>
            </a:custDash>
            <a:round/>
          </a:ln>
        </p:spPr>
        <p:txBody>
          <a:bodyPr lIns="102600" rIns="102600" tIns="57600" bIns="57600" anchor="ctr">
            <a:noAutofit/>
          </a:bodyPr>
          <a:p>
            <a:r>
              <a:rPr b="1" lang="en-US" sz="2300" spc="-1" strike="noStrike">
                <a:solidFill>
                  <a:srgbClr val="c00000"/>
                </a:solidFill>
                <a:latin typeface="Microsoft YaHei"/>
              </a:rPr>
              <a:t>□ </a:t>
            </a:r>
            <a:r>
              <a:rPr b="1" lang="zh-CN" sz="2300" spc="-1" strike="noStrike">
                <a:solidFill>
                  <a:srgbClr val="c00000"/>
                </a:solidFill>
                <a:latin typeface="Microsoft YaHei"/>
              </a:rPr>
              <a:t>激活难：</a:t>
            </a:r>
            <a:r>
              <a:rPr b="1" lang="zh-CN" sz="2300" spc="-1" strike="noStrike">
                <a:solidFill>
                  <a:srgbClr val="000000"/>
                </a:solidFill>
                <a:latin typeface="Microsoft YaHei"/>
              </a:rPr>
              <a:t>高维状态空间稀疏，单字段随机变异难以触发时序和物理耦合型异常。</a:t>
            </a:r>
            <a:endParaRPr b="1" lang="en-US" sz="2300" spc="-1" strike="noStrike">
              <a:solidFill>
                <a:srgbClr val="000000"/>
              </a:solidFill>
              <a:latin typeface="Microsoft YaHei"/>
            </a:endParaRPr>
          </a:p>
        </p:txBody>
      </p:sp>
      <p:pic>
        <p:nvPicPr>
          <p:cNvPr id="201" name="" descr=""/>
          <p:cNvPicPr/>
          <p:nvPr/>
        </p:nvPicPr>
        <p:blipFill>
          <a:blip r:embed="rId1"/>
          <a:stretch/>
        </p:blipFill>
        <p:spPr>
          <a:xfrm>
            <a:off x="576000" y="1951200"/>
            <a:ext cx="10980000" cy="3661200"/>
          </a:xfrm>
          <a:prstGeom prst="rect">
            <a:avLst/>
          </a:prstGeom>
          <a:ln w="0">
            <a:noFill/>
          </a:ln>
        </p:spPr>
      </p:pic>
      <p:sp>
        <p:nvSpPr>
          <p:cNvPr id="202" name=""/>
          <p:cNvSpPr txBox="1"/>
          <p:nvPr/>
        </p:nvSpPr>
        <p:spPr>
          <a:xfrm>
            <a:off x="676800" y="5738400"/>
            <a:ext cx="1263600" cy="954000"/>
          </a:xfrm>
          <a:prstGeom prst="rect">
            <a:avLst/>
          </a:prstGeom>
          <a:solidFill>
            <a:srgbClr val="ffffff"/>
          </a:solidFill>
          <a:ln w="25200">
            <a:solidFill>
              <a:srgbClr val="2d2d8a"/>
            </a:solidFill>
            <a:round/>
          </a:ln>
        </p:spPr>
        <p:txBody>
          <a:bodyPr lIns="102600" rIns="102600" tIns="57600" bIns="57600" anchor="ctr">
            <a:noAutofit/>
          </a:bodyPr>
          <a:p>
            <a:pPr algn="ctr">
              <a:buNone/>
            </a:pPr>
            <a:r>
              <a:rPr b="1" lang="zh-CN" sz="2400" spc="-1" strike="noStrike">
                <a:solidFill>
                  <a:srgbClr val="002060"/>
                </a:solidFill>
                <a:latin typeface="Microsoft YaHei"/>
              </a:rPr>
              <a:t>方 法</a:t>
            </a:r>
            <a:endParaRPr b="1" lang="en-US" sz="2400" spc="-1" strike="noStrike">
              <a:solidFill>
                <a:srgbClr val="002060"/>
              </a:solidFill>
              <a:latin typeface="Microsoft YaHei"/>
            </a:endParaRPr>
          </a:p>
          <a:p>
            <a:pPr algn="ctr">
              <a:buNone/>
            </a:pPr>
            <a:r>
              <a:rPr b="1" lang="zh-CN" sz="2400" spc="-1" strike="noStrike">
                <a:solidFill>
                  <a:srgbClr val="002060"/>
                </a:solidFill>
                <a:latin typeface="Microsoft YaHei"/>
              </a:rPr>
              <a:t>创 新</a:t>
            </a:r>
            <a:endParaRPr b="1" lang="en-US" sz="2400" spc="-1" strike="noStrike">
              <a:solidFill>
                <a:srgbClr val="002060"/>
              </a:solidFill>
              <a:latin typeface="Microsoft YaHei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008800" y="5738400"/>
            <a:ext cx="9342000" cy="10828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2060"/>
            </a:solidFill>
            <a:custDash>
              <a:ds d="28571" sp="28571"/>
              <a:ds d="28571" sp="28571"/>
            </a:custDash>
            <a:round/>
          </a:ln>
        </p:spPr>
        <p:txBody>
          <a:bodyPr lIns="102600" rIns="102600" tIns="57600" bIns="57600" anchor="ctr">
            <a:noAutofit/>
          </a:bodyPr>
          <a:p>
            <a:r>
              <a:rPr b="1" lang="en-US" sz="1800" spc="-1" strike="noStrike">
                <a:solidFill>
                  <a:srgbClr val="000000"/>
                </a:solidFill>
                <a:latin typeface="Microsoft YaHei"/>
              </a:rPr>
              <a:t>□ </a:t>
            </a:r>
            <a:r>
              <a:rPr b="1" lang="zh-CN" sz="1800" spc="-1" strike="noStrike">
                <a:solidFill>
                  <a:srgbClr val="000000"/>
                </a:solidFill>
                <a:latin typeface="Microsoft YaHei"/>
              </a:rPr>
              <a:t>测试输入不再局限于修改一条消息的数值，而是根据真实控制过程组织一段连续操作，让机器人经历保持、转向、接近边界和状态切换等变化，更容易到达随机变异很难触及的状态。</a:t>
            </a:r>
            <a:endParaRPr b="1" lang="en-US" sz="1800" spc="-1" strike="noStrike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2008800" y="6174000"/>
            <a:ext cx="9342000" cy="10828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2060"/>
            </a:solidFill>
            <a:custDash>
              <a:ds d="28571" sp="28571"/>
              <a:ds d="28571" sp="28571"/>
            </a:custDash>
            <a:round/>
          </a:ln>
        </p:spPr>
        <p:txBody>
          <a:bodyPr lIns="102600" rIns="102600" tIns="57600" bIns="57600" anchor="ctr">
            <a:noAutofit/>
          </a:bodyPr>
          <a:p>
            <a:r>
              <a:rPr b="1" lang="en-US" sz="1800" spc="-1" strike="noStrike">
                <a:solidFill>
                  <a:srgbClr val="000000"/>
                </a:solidFill>
                <a:latin typeface="Microsoft YaHei"/>
              </a:rPr>
              <a:t>□ </a:t>
            </a:r>
            <a:r>
              <a:rPr b="1" lang="zh-CN" sz="1800" spc="-1" strike="noStrike">
                <a:solidFill>
                  <a:srgbClr val="000000"/>
                </a:solidFill>
                <a:latin typeface="Microsoft YaHei"/>
              </a:rPr>
              <a:t>每轮执行结束后，综合系统响应、任务结果和数据质量挑选更有价值的种子，同时限制相似种子反复入队或长期占用预算，使后续测试既能延续有效探索，也能及时转向新的行为区域。</a:t>
            </a:r>
            <a:endParaRPr b="1" lang="en-US" sz="1800" spc="-1" strike="noStrike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2008800" y="6573600"/>
            <a:ext cx="9342000" cy="421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zh-CN" sz="1250" spc="-1" strike="noStrike">
                <a:solidFill>
                  <a:srgbClr val="5f6b76"/>
                </a:solidFill>
                <a:latin typeface="Microsoft YaHei"/>
              </a:rPr>
              <a:t>组合优化结果，不等同于语义约束覆盖率；</a:t>
            </a:r>
            <a:r>
              <a:rPr b="0" lang="en-US" sz="1250" spc="-1" strike="noStrike">
                <a:solidFill>
                  <a:srgbClr val="5f6b76"/>
                </a:solidFill>
                <a:latin typeface="Microsoft YaHei"/>
              </a:rPr>
              <a:t>TB4</a:t>
            </a:r>
            <a:r>
              <a:rPr b="0" lang="zh-CN" sz="1250" spc="-1" strike="noStrike">
                <a:solidFill>
                  <a:srgbClr val="5f6b76"/>
                </a:solidFill>
                <a:latin typeface="Microsoft YaHei"/>
              </a:rPr>
              <a:t>数据不能作为指标</a:t>
            </a:r>
            <a:r>
              <a:rPr b="0" lang="en-US" sz="1250" spc="-1" strike="noStrike">
                <a:solidFill>
                  <a:srgbClr val="5f6b76"/>
                </a:solidFill>
                <a:latin typeface="Microsoft YaHei"/>
              </a:rPr>
              <a:t>5</a:t>
            </a:r>
            <a:r>
              <a:rPr b="0" lang="zh-CN" sz="1250" spc="-1" strike="noStrike">
                <a:solidFill>
                  <a:srgbClr val="5f6b76"/>
                </a:solidFill>
                <a:latin typeface="Microsoft YaHei"/>
              </a:rPr>
              <a:t>的正式完成证据。</a:t>
            </a:r>
            <a:endParaRPr b="0" lang="en-US" sz="1250" spc="-1" strike="noStrike">
              <a:solidFill>
                <a:srgbClr val="5f6b76"/>
              </a:solidFill>
              <a:latin typeface="Microsoft YaHei"/>
            </a:endParaRPr>
          </a:p>
        </p:txBody>
      </p:sp>
    </p:spTree>
  </p:cSld>
  <mc:AlternateContent>
    <mc:Choice Requires="p14">
      <p:transition p14:dur="10"/>
    </mc:Choice>
    <mc:Fallback>
      <p:transition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"/>
          <p:cNvSpPr txBox="1"/>
          <p:nvPr/>
        </p:nvSpPr>
        <p:spPr>
          <a:xfrm>
            <a:off x="669600" y="464400"/>
            <a:ext cx="10728000" cy="64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200" spc="-1" strike="noStrike">
                <a:solidFill>
                  <a:srgbClr val="000000"/>
                </a:solidFill>
                <a:latin typeface="Microsoft YaHei"/>
              </a:rPr>
              <a:t>任务三：控制语义偏轨判定、证据回溯与根因归并</a:t>
            </a:r>
            <a:endParaRPr b="1" lang="en-US" sz="3200" spc="-1" strike="noStrike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676800" y="1314000"/>
            <a:ext cx="1522800" cy="597600"/>
          </a:xfrm>
          <a:prstGeom prst="rect">
            <a:avLst/>
          </a:prstGeom>
          <a:solidFill>
            <a:srgbClr val="ffffff"/>
          </a:solidFill>
          <a:ln w="25200">
            <a:solidFill>
              <a:srgbClr val="2d2d8a"/>
            </a:solidFill>
            <a:round/>
          </a:ln>
        </p:spPr>
        <p:txBody>
          <a:bodyPr lIns="102600" rIns="102600" tIns="57600" bIns="57600" anchor="ctr">
            <a:noAutofit/>
          </a:bodyPr>
          <a:p>
            <a:pPr algn="ctr">
              <a:buNone/>
            </a:pPr>
            <a:r>
              <a:rPr b="1" lang="zh-CN" sz="2400" spc="-1" strike="noStrike">
                <a:solidFill>
                  <a:srgbClr val="002060"/>
                </a:solidFill>
                <a:latin typeface="Microsoft YaHei"/>
              </a:rPr>
              <a:t>主要难点</a:t>
            </a:r>
            <a:endParaRPr b="1" lang="en-US" sz="2400" spc="-1" strike="noStrike">
              <a:solidFill>
                <a:srgbClr val="002060"/>
              </a:solidFill>
              <a:latin typeface="Microsoft YaHei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2196000" y="1314000"/>
            <a:ext cx="9154800" cy="597600"/>
          </a:xfrm>
          <a:prstGeom prst="rect">
            <a:avLst/>
          </a:prstGeom>
          <a:solidFill>
            <a:srgbClr val="ffffff"/>
          </a:solidFill>
          <a:ln w="25200">
            <a:solidFill>
              <a:srgbClr val="002060"/>
            </a:solidFill>
            <a:custDash>
              <a:ds d="28571" sp="28571"/>
              <a:ds d="28571" sp="28571"/>
            </a:custDash>
            <a:round/>
          </a:ln>
        </p:spPr>
        <p:txBody>
          <a:bodyPr lIns="102600" rIns="102600" tIns="57600" bIns="57600" anchor="ctr">
            <a:noAutofit/>
          </a:bodyPr>
          <a:p>
            <a:r>
              <a:rPr b="1" lang="en-US" sz="2300" spc="-1" strike="noStrike">
                <a:solidFill>
                  <a:srgbClr val="c00000"/>
                </a:solidFill>
                <a:latin typeface="Microsoft YaHei"/>
              </a:rPr>
              <a:t>□ </a:t>
            </a:r>
            <a:r>
              <a:rPr b="1" lang="zh-CN" sz="2300" spc="-1" strike="noStrike">
                <a:solidFill>
                  <a:srgbClr val="c00000"/>
                </a:solidFill>
                <a:latin typeface="Microsoft YaHei"/>
              </a:rPr>
              <a:t>判定难：</a:t>
            </a:r>
            <a:r>
              <a:rPr b="1" lang="zh-CN" sz="2300" spc="-1" strike="noStrike">
                <a:solidFill>
                  <a:srgbClr val="000000"/>
                </a:solidFill>
                <a:latin typeface="Microsoft YaHei"/>
              </a:rPr>
              <a:t>系统无崩溃、无错误码，异步多源观测和级联报警难以复现与归因。</a:t>
            </a:r>
            <a:endParaRPr b="1" lang="en-US" sz="2300" spc="-1" strike="noStrike">
              <a:solidFill>
                <a:srgbClr val="000000"/>
              </a:solidFill>
              <a:latin typeface="Microsoft YaHei"/>
            </a:endParaRPr>
          </a:p>
        </p:txBody>
      </p:sp>
      <p:pic>
        <p:nvPicPr>
          <p:cNvPr id="209" name="" descr=""/>
          <p:cNvPicPr/>
          <p:nvPr/>
        </p:nvPicPr>
        <p:blipFill>
          <a:blip r:embed="rId1"/>
          <a:stretch/>
        </p:blipFill>
        <p:spPr>
          <a:xfrm>
            <a:off x="576000" y="1951200"/>
            <a:ext cx="10980000" cy="3661200"/>
          </a:xfrm>
          <a:prstGeom prst="rect">
            <a:avLst/>
          </a:prstGeom>
          <a:ln w="0">
            <a:noFill/>
          </a:ln>
        </p:spPr>
      </p:pic>
      <p:sp>
        <p:nvSpPr>
          <p:cNvPr id="210" name=""/>
          <p:cNvSpPr txBox="1"/>
          <p:nvPr/>
        </p:nvSpPr>
        <p:spPr>
          <a:xfrm>
            <a:off x="676800" y="5738400"/>
            <a:ext cx="1263600" cy="954000"/>
          </a:xfrm>
          <a:prstGeom prst="rect">
            <a:avLst/>
          </a:prstGeom>
          <a:solidFill>
            <a:srgbClr val="ffffff"/>
          </a:solidFill>
          <a:ln w="25200">
            <a:solidFill>
              <a:srgbClr val="2d2d8a"/>
            </a:solidFill>
            <a:round/>
          </a:ln>
        </p:spPr>
        <p:txBody>
          <a:bodyPr lIns="102600" rIns="102600" tIns="57600" bIns="57600" anchor="ctr">
            <a:noAutofit/>
          </a:bodyPr>
          <a:p>
            <a:pPr algn="ctr">
              <a:buNone/>
            </a:pPr>
            <a:r>
              <a:rPr b="1" lang="zh-CN" sz="2400" spc="-1" strike="noStrike">
                <a:solidFill>
                  <a:srgbClr val="002060"/>
                </a:solidFill>
                <a:latin typeface="Microsoft YaHei"/>
              </a:rPr>
              <a:t>方 法</a:t>
            </a:r>
            <a:endParaRPr b="1" lang="en-US" sz="2400" spc="-1" strike="noStrike">
              <a:solidFill>
                <a:srgbClr val="002060"/>
              </a:solidFill>
              <a:latin typeface="Microsoft YaHei"/>
            </a:endParaRPr>
          </a:p>
          <a:p>
            <a:pPr algn="ctr">
              <a:buNone/>
            </a:pPr>
            <a:r>
              <a:rPr b="1" lang="zh-CN" sz="2400" spc="-1" strike="noStrike">
                <a:solidFill>
                  <a:srgbClr val="002060"/>
                </a:solidFill>
                <a:latin typeface="Microsoft YaHei"/>
              </a:rPr>
              <a:t>创 新</a:t>
            </a:r>
            <a:endParaRPr b="1" lang="en-US" sz="2400" spc="-1" strike="noStrike">
              <a:solidFill>
                <a:srgbClr val="002060"/>
              </a:solidFill>
              <a:latin typeface="Microsoft YaHei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2008800" y="5738400"/>
            <a:ext cx="9342000" cy="752040"/>
          </a:xfrm>
          <a:prstGeom prst="rect">
            <a:avLst/>
          </a:prstGeom>
          <a:solidFill>
            <a:srgbClr val="ffffff"/>
          </a:solidFill>
          <a:ln w="25200">
            <a:solidFill>
              <a:srgbClr val="002060"/>
            </a:solidFill>
            <a:custDash>
              <a:ds d="28571" sp="28571"/>
              <a:ds d="28571" sp="28571"/>
            </a:custDash>
            <a:round/>
          </a:ln>
        </p:spPr>
        <p:txBody>
          <a:bodyPr lIns="102600" rIns="102600" tIns="57600" bIns="57600" anchor="ctr">
            <a:noAutofit/>
          </a:bodyPr>
          <a:p>
            <a:r>
              <a:rPr b="1" lang="en-US" sz="1800" spc="-1" strike="noStrike">
                <a:solidFill>
                  <a:srgbClr val="000000"/>
                </a:solidFill>
                <a:latin typeface="Microsoft YaHei"/>
              </a:rPr>
              <a:t>□ </a:t>
            </a:r>
            <a:r>
              <a:rPr b="1" lang="zh-CN" sz="1800" spc="-1" strike="noStrike">
                <a:solidFill>
                  <a:srgbClr val="000000"/>
                </a:solidFill>
                <a:latin typeface="Microsoft YaHei"/>
              </a:rPr>
              <a:t>发现偏轨后，同时保存测试输入、运行话题、仿真真值和任务结果，再用离线计算或回放确认异常能否再次出现，从而排除目标未就绪、数据缺失等环境因素。</a:t>
            </a:r>
            <a:endParaRPr b="1" lang="en-US" sz="1800" spc="-1" strike="noStrike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2008800" y="6174000"/>
            <a:ext cx="9342000" cy="1082880"/>
          </a:xfrm>
          <a:prstGeom prst="rect">
            <a:avLst/>
          </a:prstGeom>
          <a:solidFill>
            <a:srgbClr val="ffffff"/>
          </a:solidFill>
          <a:ln w="25200">
            <a:solidFill>
              <a:srgbClr val="002060"/>
            </a:solidFill>
            <a:custDash>
              <a:ds d="28571" sp="28571"/>
              <a:ds d="28571" sp="28571"/>
            </a:custDash>
            <a:round/>
          </a:ln>
        </p:spPr>
        <p:txBody>
          <a:bodyPr lIns="102600" rIns="102600" tIns="57600" bIns="57600" anchor="ctr">
            <a:noAutofit/>
          </a:bodyPr>
          <a:p>
            <a:r>
              <a:rPr b="1" lang="en-US" sz="1800" spc="-1" strike="noStrike">
                <a:solidFill>
                  <a:srgbClr val="000000"/>
                </a:solidFill>
                <a:latin typeface="Microsoft YaHei"/>
              </a:rPr>
              <a:t>□ </a:t>
            </a:r>
            <a:r>
              <a:rPr b="1" lang="zh-CN" sz="1800" spc="-1" strike="noStrike">
                <a:solidFill>
                  <a:srgbClr val="000000"/>
                </a:solidFill>
                <a:latin typeface="Microsoft YaHei"/>
              </a:rPr>
              <a:t>对于多次出现或彼此关联的异常，结合触发输入、发生时刻以及它们在控制链上的传递关系判断是否来自同一个原因，最终只保留证据完整、能够稳定复现的问题用于分析和上报。</a:t>
            </a:r>
            <a:endParaRPr b="1" lang="en-US" sz="1800" spc="-1" strike="noStrike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2008800" y="6573600"/>
            <a:ext cx="9342000" cy="421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r>
              <a:rPr b="0" lang="zh-CN" sz="1250" spc="-1" strike="noStrike">
                <a:solidFill>
                  <a:srgbClr val="5f6b76"/>
                </a:solidFill>
                <a:latin typeface="Microsoft YaHei"/>
              </a:rPr>
              <a:t>当前完成仿真侧偏轨判定与回溯；实物验证、未公开漏洞认定和正式编号尚未闭环。</a:t>
            </a:r>
            <a:endParaRPr b="0" lang="en-US" sz="1250" spc="-1" strike="noStrike">
              <a:solidFill>
                <a:srgbClr val="5f6b76"/>
              </a:solidFill>
              <a:latin typeface="Microsoft YaHei"/>
            </a:endParaRPr>
          </a:p>
        </p:txBody>
      </p:sp>
    </p:spTree>
  </p:cSld>
  <mc:AlternateContent>
    <mc:Choice Requires="p14">
      <p:transition p14:dur="10"/>
    </mc:Choice>
    <mc:Fallback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99"/>
      </a:dk2>
      <a:lt2>
        <a:srgbClr val="ffcc00"/>
      </a:lt2>
      <a:accent1>
        <a:srgbClr val="ff9900"/>
      </a:accent1>
      <a:accent2>
        <a:srgbClr val="ff9900"/>
      </a:accent2>
      <a:accent3>
        <a:srgbClr val="ffffff"/>
      </a:accent3>
      <a:accent4>
        <a:srgbClr val="000000"/>
      </a:accent4>
      <a:accent5>
        <a:srgbClr val="ffcaaa"/>
      </a:accent5>
      <a:accent6>
        <a:srgbClr val="e78a00"/>
      </a:accent6>
      <a:hlink>
        <a:srgbClr val="666699"/>
      </a:hlink>
      <a:folHlink>
        <a:srgbClr val="999966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66699"/>
      </a:dk2>
      <a:lt2>
        <a:srgbClr val="ffcc00"/>
      </a:lt2>
      <a:accent1>
        <a:srgbClr val="ff9900"/>
      </a:accent1>
      <a:accent2>
        <a:srgbClr val="ff9900"/>
      </a:accent2>
      <a:accent3>
        <a:srgbClr val="ffffff"/>
      </a:accent3>
      <a:accent4>
        <a:srgbClr val="000000"/>
      </a:accent4>
      <a:accent5>
        <a:srgbClr val="ffcaaa"/>
      </a:accent5>
      <a:accent6>
        <a:srgbClr val="e78a00"/>
      </a:accent6>
      <a:hlink>
        <a:srgbClr val="666699"/>
      </a:hlink>
      <a:folHlink>
        <a:srgbClr val="999966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  <Words>1816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2026-09-17T12:51:53Z</dcterms:created>
  <dc:creator>Jiang Yu</dc:creator>
  <dc:description/>
  <dc:language>en-US</dc:language>
  <cp:lastModifiedBy/>
  <cp:lastPrinted>2026-09-17T12:51:53Z</cp:lastPrinted>
  <dcterms:modified xsi:type="dcterms:W3CDTF">2026-09-18T18:41:04Z</dcterms:modified>
  <cp:revision>7189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FAC76822D05A4E5FB01FD0ED4C63DD90_13</vt:lpwstr>
  </property>
  <property fmtid="{D5CDD505-2E9C-101B-9397-08002B2CF9AE}" pid="3" name="KSOProductBuildVer">
    <vt:lpwstr>2052-12.1.2.25882</vt:lpwstr>
  </property>
  <property fmtid="{D5CDD505-2E9C-101B-9397-08002B2CF9AE}" pid="4" name="Notes">
    <vt:i4>22</vt:i4>
  </property>
  <property fmtid="{D5CDD505-2E9C-101B-9397-08002B2CF9AE}" pid="5" name="PresentationFormat">
    <vt:lpwstr>宽屏</vt:lpwstr>
  </property>
  <property fmtid="{D5CDD505-2E9C-101B-9397-08002B2CF9AE}" pid="6" name="Slides">
    <vt:i4>8</vt:i4>
  </property>
</Properties>
</file>