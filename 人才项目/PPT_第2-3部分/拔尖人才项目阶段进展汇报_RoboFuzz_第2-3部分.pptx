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media/image5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7099300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78C3194-4D4E-485E-BD18-37DC530E512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138240" y="766800"/>
            <a:ext cx="6822720" cy="38383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09560" y="4862160"/>
            <a:ext cx="5679720" cy="460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5"/>
          </p:nvPr>
        </p:nvSpPr>
        <p:spPr>
          <a:xfrm>
            <a:off x="4020480" y="9720720"/>
            <a:ext cx="3076920" cy="51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138240" y="766800"/>
            <a:ext cx="6822720" cy="38383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709560" y="4862160"/>
            <a:ext cx="5679720" cy="460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6"/>
          </p:nvPr>
        </p:nvSpPr>
        <p:spPr>
          <a:xfrm>
            <a:off x="4020480" y="9720720"/>
            <a:ext cx="3076920" cy="51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138240" y="766800"/>
            <a:ext cx="6822720" cy="38383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709560" y="4862160"/>
            <a:ext cx="5679720" cy="4604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7"/>
          </p:nvPr>
        </p:nvSpPr>
        <p:spPr>
          <a:xfrm>
            <a:off x="4020480" y="9720720"/>
            <a:ext cx="3076920" cy="51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138240" y="766800"/>
            <a:ext cx="6822720" cy="38383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709560" y="4862160"/>
            <a:ext cx="5679720" cy="4604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8"/>
          </p:nvPr>
        </p:nvSpPr>
        <p:spPr>
          <a:xfrm>
            <a:off x="4020480" y="9720720"/>
            <a:ext cx="3076920" cy="51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138240" y="766800"/>
            <a:ext cx="6822720" cy="38383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709560" y="4862160"/>
            <a:ext cx="5679720" cy="4604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9"/>
          </p:nvPr>
        </p:nvSpPr>
        <p:spPr>
          <a:xfrm>
            <a:off x="4020480" y="9720720"/>
            <a:ext cx="3076920" cy="51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138240" y="766800"/>
            <a:ext cx="6822720" cy="38383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709560" y="4862160"/>
            <a:ext cx="5679720" cy="4604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20"/>
          </p:nvPr>
        </p:nvSpPr>
        <p:spPr>
          <a:xfrm>
            <a:off x="4020480" y="9720720"/>
            <a:ext cx="3076920" cy="51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138240" y="766800"/>
            <a:ext cx="6822720" cy="38383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709560" y="4862160"/>
            <a:ext cx="5679720" cy="4604760"/>
          </a:xfrm>
          <a:prstGeom prst="rect">
            <a:avLst/>
          </a:prstGeom>
          <a:noFill/>
          <a:ln w="0">
            <a:noFill/>
          </a:ln>
        </p:spPr>
        <p:txBody>
          <a:bodyPr lIns="94680" rIns="94680" tIns="47520" bIns="4752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21"/>
          </p:nvPr>
        </p:nvSpPr>
        <p:spPr>
          <a:xfrm>
            <a:off x="4020480" y="9720720"/>
            <a:ext cx="3076920" cy="51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4680" rIns="94680" tIns="47520" bIns="47520"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D1BC0E-AE77-4C60-92CD-FC2C1A38E0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268280"/>
            <a:ext cx="1097244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34BB87-BF59-4AFD-A4C4-7F34455322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1097244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F93B73-39EE-458A-896E-0B9D31CFF3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43A266-4406-4865-BC72-2EBF626F71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13621A-D5E3-4C7B-BF26-FAD1E9981D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C9A6D1-288D-4C9E-85D7-FF2B54F9CC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7B37CD-738D-4F22-B7A1-EACF07DC07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291787-E565-4B95-B9D8-2005C5A62F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808080"/>
            <a:ext cx="109724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F65AFC-AE36-49FB-9D3B-A9EC99404C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109724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808080"/>
            <a:ext cx="109724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E3F497-67A1-4B66-9301-F2B2F58FE3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AA2D3D-9831-4E10-9C15-23B66C873A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2682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2682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8080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8080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8080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9AC4AE-EEB4-462C-8AEA-C734957B3D9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883940-23B9-4839-B270-3ED027714E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268280"/>
            <a:ext cx="1097244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A5EE2E-1AAC-4CF5-8687-B504CE5CA7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1097244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91BD93-A770-4629-B3DA-69593CC4EF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C39496-2FBB-4418-838A-3EAAD67F2C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D46025-A7DF-4B35-BBF2-FDDDF0630A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F54958-B2BB-4B93-B60C-52E5D768CC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12721F-6F8B-4057-9E96-2A5D173F99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CE2DFA-4D7D-4BA8-B147-A6101E71B9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808080"/>
            <a:ext cx="109724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6DE23D-E795-44CF-8525-A1DE90AFB3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109724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808080"/>
            <a:ext cx="109724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6E7F9B-5A2D-4F0F-9A57-DABEAC49FA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F0C157-8354-4C32-986A-C0A4D6276C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2682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2682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8080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8080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8080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592775-183A-4C98-BBE4-DF3D8025F0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6CA9F7E-B5AA-49C4-B748-3DA2157A33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268280"/>
            <a:ext cx="1097244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50366D6-5DD3-41A2-9CE4-FEFC671616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1097244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8088CFF-0478-4F44-8595-C52C8A7908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2EBBA03-343F-4447-B98B-4A319FDA02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00C65FB-BD54-4D89-BB5D-95DB5CC61A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A9F66B6-2874-4EAE-8DA1-1323C0CABD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B547F26-28B7-4064-A8B4-212F5A8140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48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42D11FE-854E-4991-AFB3-81798D0087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808080"/>
            <a:ext cx="109724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4D00050-2A3F-49D0-9E61-86FD163DE5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109724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808080"/>
            <a:ext cx="109724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086E083-75D3-41CC-8DB7-8E172A93AA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2682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808080"/>
            <a:ext cx="535428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0BC4E7-B71F-4C62-BE88-88A9011BA6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2682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2682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2682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8080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8080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808080"/>
            <a:ext cx="3533040" cy="23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64EAAC9-A2EA-43CC-8F81-89C3B6C68C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图片 8" descr="清华大学：面向网络协同制造的工业协议安全测试技术PPT_V1.0 封面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198800" y="914400"/>
            <a:ext cx="9798840" cy="257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lang="zh-CN" sz="6000" spc="299" strike="noStrike">
                <a:solidFill>
                  <a:srgbClr val="262626"/>
                </a:solidFill>
                <a:latin typeface="Arial"/>
                <a:ea typeface="微软雅黑"/>
              </a:rPr>
              <a:t>单击此处编辑标题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3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en-US" sz="1800" spc="148" strike="noStrike">
                <a:solidFill>
                  <a:srgbClr val="595959"/>
                </a:solidFill>
                <a:latin typeface="Arial"/>
              </a:rPr>
              <a:t>Click to edit the outline text format</a:t>
            </a:r>
            <a:endParaRPr b="0" lang="en-US" sz="1800" spc="148" strike="noStrike">
              <a:solidFill>
                <a:srgbClr val="595959"/>
              </a:solidFill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1609560"/>
              </a:tabLst>
            </a:pPr>
            <a:r>
              <a:rPr b="0" lang="en-US" sz="1600" spc="148" strike="noStrike">
                <a:solidFill>
                  <a:srgbClr val="595959"/>
                </a:solidFill>
                <a:latin typeface="Arial"/>
              </a:rPr>
              <a:t>Second Outline Level</a:t>
            </a:r>
            <a:endParaRPr b="0" lang="en-US" sz="1600" spc="148" strike="noStrike">
              <a:solidFill>
                <a:srgbClr val="595959"/>
              </a:solidFill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en-US" sz="1400" spc="148" strike="noStrike">
                <a:solidFill>
                  <a:srgbClr val="595959"/>
                </a:solidFill>
                <a:latin typeface="Arial"/>
              </a:rPr>
              <a:t>Third Outline Level</a:t>
            </a:r>
            <a:endParaRPr b="0" lang="en-US" sz="1400" spc="148" strike="noStrike">
              <a:solidFill>
                <a:srgbClr val="595959"/>
              </a:solidFill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1609560"/>
              </a:tabLst>
            </a:pPr>
            <a:r>
              <a:rPr b="0" lang="en-US" sz="1400" spc="148" strike="noStrike">
                <a:solidFill>
                  <a:srgbClr val="595959"/>
                </a:solidFill>
                <a:latin typeface="Arial"/>
              </a:rPr>
              <a:t>Fourth Outline Level</a:t>
            </a:r>
            <a:endParaRPr b="0" lang="en-US" sz="1400" spc="148" strike="noStrike">
              <a:solidFill>
                <a:srgbClr val="595959"/>
              </a:solidFill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en-US" sz="2000" spc="148" strike="noStrike">
                <a:solidFill>
                  <a:srgbClr val="595959"/>
                </a:solidFill>
                <a:latin typeface="Arial"/>
              </a:rPr>
              <a:t>Fifth Outline Level</a:t>
            </a:r>
            <a:endParaRPr b="0" lang="en-US" sz="2000" spc="148" strike="noStrike">
              <a:solidFill>
                <a:srgbClr val="595959"/>
              </a:solidFill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en-US" sz="2000" spc="148" strike="noStrike">
                <a:solidFill>
                  <a:srgbClr val="595959"/>
                </a:solidFill>
                <a:latin typeface="Arial"/>
              </a:rPr>
              <a:t>Sixth Outline Level</a:t>
            </a:r>
            <a:endParaRPr b="0" lang="en-US" sz="2000" spc="148" strike="noStrike">
              <a:solidFill>
                <a:srgbClr val="595959"/>
              </a:solidFill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en-US" sz="2000" spc="148" strike="noStrike">
                <a:solidFill>
                  <a:srgbClr val="595959"/>
                </a:solidFill>
                <a:latin typeface="Arial"/>
              </a:rPr>
              <a:t>Seventh Outline Level</a:t>
            </a:r>
            <a:endParaRPr b="0" lang="en-US" sz="2000" spc="148" strike="noStrike">
              <a:solidFill>
                <a:srgbClr val="595959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Line 8"/>
          <p:cNvSpPr/>
          <p:nvPr/>
        </p:nvSpPr>
        <p:spPr>
          <a:xfrm>
            <a:off x="645480" y="1125360"/>
            <a:ext cx="10769400" cy="360"/>
          </a:xfrm>
          <a:prstGeom prst="line">
            <a:avLst/>
          </a:prstGeom>
          <a:ln w="38100">
            <a:solidFill>
              <a:srgbClr val="6592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609480" y="1268280"/>
            <a:ext cx="10972440" cy="4862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c00000"/>
              </a:buClr>
              <a:buSzPct val="85000"/>
              <a:buFont typeface="Wingdings" charset="2"/>
              <a:buChar char=""/>
            </a:pPr>
            <a:r>
              <a:rPr b="0" lang="zh-CN" sz="2800" spc="-1" strike="noStrike">
                <a:solidFill>
                  <a:srgbClr val="000000"/>
                </a:solidFill>
                <a:latin typeface="Arial"/>
              </a:rPr>
              <a:t>单击此处编辑母版文本样式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c00000"/>
              </a:buClr>
              <a:buSzPct val="85000"/>
              <a:buFont typeface="Wingdings" charset="2"/>
              <a:buChar char=""/>
            </a:pPr>
            <a:r>
              <a:rPr b="0" lang="zh-CN" sz="2400" spc="-1" strike="noStrike">
                <a:solidFill>
                  <a:srgbClr val="000000"/>
                </a:solidFill>
                <a:latin typeface="Arial"/>
              </a:rPr>
              <a:t>第二级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ff9900"/>
              </a:buClr>
              <a:buSzPct val="85000"/>
              <a:buFont typeface="Wingdings" charset="2"/>
              <a:buChar char="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第三级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Font typeface="Wingdings" charset="2"/>
              <a:buChar char="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第四级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666699"/>
              </a:buClr>
              <a:buSzPct val="80000"/>
              <a:buFont typeface="Wingdings" charset="2"/>
              <a:buChar char="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第五级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4"/>
          </p:nvPr>
        </p:nvSpPr>
        <p:spPr>
          <a:xfrm>
            <a:off x="609480" y="6248520"/>
            <a:ext cx="2844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5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6"/>
          </p:nvPr>
        </p:nvSpPr>
        <p:spPr>
          <a:xfrm>
            <a:off x="9168480" y="6543720"/>
            <a:ext cx="2844360" cy="3139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Line 8"/>
          <p:cNvSpPr/>
          <p:nvPr/>
        </p:nvSpPr>
        <p:spPr>
          <a:xfrm>
            <a:off x="645480" y="1125360"/>
            <a:ext cx="10769400" cy="360"/>
          </a:xfrm>
          <a:prstGeom prst="line">
            <a:avLst/>
          </a:prstGeom>
          <a:ln w="38100">
            <a:solidFill>
              <a:srgbClr val="6592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PlaceHolder 1"/>
          <p:cNvSpPr>
            <a:spLocks noGrp="1"/>
          </p:cNvSpPr>
          <p:nvPr>
            <p:ph type="body"/>
          </p:nvPr>
        </p:nvSpPr>
        <p:spPr>
          <a:xfrm>
            <a:off x="609480" y="1268280"/>
            <a:ext cx="10972440" cy="4862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c00000"/>
              </a:buClr>
              <a:buSzPct val="85000"/>
              <a:buFont typeface="Wingdings" charset="2"/>
              <a:buChar char=""/>
            </a:pPr>
            <a:r>
              <a:rPr b="0" lang="zh-CN" sz="2800" spc="-1" strike="noStrike">
                <a:solidFill>
                  <a:srgbClr val="000000"/>
                </a:solidFill>
                <a:latin typeface="Arial"/>
              </a:rPr>
              <a:t>单击此处编辑母版文本样式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c00000"/>
              </a:buClr>
              <a:buSzPct val="85000"/>
              <a:buFont typeface="Wingdings" charset="2"/>
              <a:buChar char=""/>
            </a:pPr>
            <a:r>
              <a:rPr b="0" lang="zh-CN" sz="2400" spc="-1" strike="noStrike">
                <a:solidFill>
                  <a:srgbClr val="000000"/>
                </a:solidFill>
                <a:latin typeface="Arial"/>
              </a:rPr>
              <a:t>第二级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ff9900"/>
              </a:buClr>
              <a:buSzPct val="85000"/>
              <a:buFont typeface="Wingdings" charset="2"/>
              <a:buChar char="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第三级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ffcc00"/>
              </a:buClr>
              <a:buFont typeface="Wingdings" charset="2"/>
              <a:buChar char="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第四级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666699"/>
              </a:buClr>
              <a:buSzPct val="80000"/>
              <a:buFont typeface="Wingdings" charset="2"/>
              <a:buChar char=""/>
            </a:pPr>
            <a:r>
              <a:rPr b="0" lang="zh-CN" sz="2000" spc="-1" strike="noStrike">
                <a:solidFill>
                  <a:srgbClr val="000000"/>
                </a:solidFill>
                <a:latin typeface="Arial"/>
              </a:rPr>
              <a:t>第五级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dt" idx="7"/>
          </p:nvPr>
        </p:nvSpPr>
        <p:spPr>
          <a:xfrm>
            <a:off x="609480" y="6248520"/>
            <a:ext cx="284436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8"/>
          </p:nvPr>
        </p:nvSpPr>
        <p:spPr>
          <a:xfrm>
            <a:off x="4165560" y="6248520"/>
            <a:ext cx="3860280" cy="4568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 idx="9"/>
          </p:nvPr>
        </p:nvSpPr>
        <p:spPr>
          <a:xfrm>
            <a:off x="9168480" y="6543720"/>
            <a:ext cx="2844360" cy="3139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Num" idx="13"/>
          </p:nvPr>
        </p:nvSpPr>
        <p:spPr>
          <a:xfrm>
            <a:off x="9264960" y="64530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479520" y="692640"/>
            <a:ext cx="83307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3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汇 报 提 纲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34" name="直接连接符 4"/>
          <p:cNvSpPr/>
          <p:nvPr/>
        </p:nvSpPr>
        <p:spPr>
          <a:xfrm>
            <a:off x="0" y="1304640"/>
            <a:ext cx="2562120" cy="360"/>
          </a:xfrm>
          <a:prstGeom prst="line">
            <a:avLst/>
          </a:prstGeom>
          <a:ln w="412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35" name="组合 2"/>
          <p:cNvGrpSpPr/>
          <p:nvPr/>
        </p:nvGrpSpPr>
        <p:grpSpPr>
          <a:xfrm>
            <a:off x="1143720" y="3464640"/>
            <a:ext cx="4537440" cy="729360"/>
            <a:chOff x="1143720" y="3464640"/>
            <a:chExt cx="4537440" cy="729360"/>
          </a:xfrm>
        </p:grpSpPr>
        <p:sp>
          <p:nvSpPr>
            <p:cNvPr id="136" name="文本框 3"/>
            <p:cNvSpPr/>
            <p:nvPr/>
          </p:nvSpPr>
          <p:spPr>
            <a:xfrm>
              <a:off x="1935720" y="3626640"/>
              <a:ext cx="374544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zh-CN" sz="2800" spc="-1" strike="noStrike">
                  <a:solidFill>
                    <a:srgbClr val="808080"/>
                  </a:solidFill>
                  <a:latin typeface="微软雅黑"/>
                  <a:ea typeface="微软雅黑"/>
                </a:rPr>
                <a:t>课题概况与研究内容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37" name="剪去对角的矩形 9"/>
            <p:cNvSpPr/>
            <p:nvPr/>
          </p:nvSpPr>
          <p:spPr>
            <a:xfrm>
              <a:off x="1143720" y="3610800"/>
              <a:ext cx="541800" cy="541800"/>
            </a:xfrm>
            <a:prstGeom prst="snip2DiagRect">
              <a:avLst>
                <a:gd name="adj1" fmla="val 0"/>
                <a:gd name="adj2" fmla="val 2487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" name="文本框 12"/>
            <p:cNvSpPr/>
            <p:nvPr/>
          </p:nvSpPr>
          <p:spPr>
            <a:xfrm>
              <a:off x="1143720" y="3464640"/>
              <a:ext cx="579960" cy="72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  <a:ea typeface="微软雅黑"/>
                </a:rPr>
                <a:t>01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39" name="直接连接符 10"/>
            <p:cNvSpPr/>
            <p:nvPr/>
          </p:nvSpPr>
          <p:spPr>
            <a:xfrm>
              <a:off x="1873800" y="3601080"/>
              <a:ext cx="360" cy="56556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0" name="组合 34"/>
          <p:cNvGrpSpPr/>
          <p:nvPr/>
        </p:nvGrpSpPr>
        <p:grpSpPr>
          <a:xfrm>
            <a:off x="1143000" y="4626000"/>
            <a:ext cx="4537440" cy="729360"/>
            <a:chOff x="1143000" y="4626000"/>
            <a:chExt cx="4537440" cy="729360"/>
          </a:xfrm>
        </p:grpSpPr>
        <p:sp>
          <p:nvSpPr>
            <p:cNvPr id="141" name="文本框 35"/>
            <p:cNvSpPr/>
            <p:nvPr/>
          </p:nvSpPr>
          <p:spPr>
            <a:xfrm>
              <a:off x="1935000" y="4788000"/>
              <a:ext cx="374544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28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任务与指标完成情况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42" name="剪去对角的矩形 36"/>
            <p:cNvSpPr/>
            <p:nvPr/>
          </p:nvSpPr>
          <p:spPr>
            <a:xfrm>
              <a:off x="1143000" y="4772160"/>
              <a:ext cx="541800" cy="541800"/>
            </a:xfrm>
            <a:prstGeom prst="snip2DiagRect">
              <a:avLst>
                <a:gd name="adj1" fmla="val 0"/>
                <a:gd name="adj2" fmla="val 2487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3" name="文本框 37"/>
            <p:cNvSpPr/>
            <p:nvPr/>
          </p:nvSpPr>
          <p:spPr>
            <a:xfrm>
              <a:off x="1143000" y="4626000"/>
              <a:ext cx="579960" cy="72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  <a:ea typeface="微软雅黑"/>
                </a:rPr>
                <a:t>02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44" name="直接连接符 17"/>
            <p:cNvSpPr/>
            <p:nvPr/>
          </p:nvSpPr>
          <p:spPr>
            <a:xfrm>
              <a:off x="1873080" y="4762440"/>
              <a:ext cx="360" cy="56592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45" name="组合 39"/>
          <p:cNvGrpSpPr/>
          <p:nvPr/>
        </p:nvGrpSpPr>
        <p:grpSpPr>
          <a:xfrm>
            <a:off x="6541200" y="3517920"/>
            <a:ext cx="4537440" cy="729360"/>
            <a:chOff x="6541200" y="3517920"/>
            <a:chExt cx="4537440" cy="729360"/>
          </a:xfrm>
        </p:grpSpPr>
        <p:sp>
          <p:nvSpPr>
            <p:cNvPr id="146" name="文本框 40"/>
            <p:cNvSpPr/>
            <p:nvPr/>
          </p:nvSpPr>
          <p:spPr>
            <a:xfrm>
              <a:off x="7333200" y="3679920"/>
              <a:ext cx="374544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zh-CN" sz="2800" spc="-1" strike="noStrike">
                  <a:solidFill>
                    <a:srgbClr val="808080"/>
                  </a:solidFill>
                  <a:latin typeface="微软雅黑"/>
                  <a:ea typeface="微软雅黑"/>
                </a:rPr>
                <a:t>技术细节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47" name="剪去对角的矩形 41"/>
            <p:cNvSpPr/>
            <p:nvPr/>
          </p:nvSpPr>
          <p:spPr>
            <a:xfrm>
              <a:off x="6541200" y="3664080"/>
              <a:ext cx="541800" cy="541800"/>
            </a:xfrm>
            <a:prstGeom prst="snip2DiagRect">
              <a:avLst>
                <a:gd name="adj1" fmla="val 0"/>
                <a:gd name="adj2" fmla="val 2487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8" name="文本框 42"/>
            <p:cNvSpPr/>
            <p:nvPr/>
          </p:nvSpPr>
          <p:spPr>
            <a:xfrm>
              <a:off x="6541200" y="3517920"/>
              <a:ext cx="579960" cy="72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  <a:ea typeface="微软雅黑"/>
                </a:rPr>
                <a:t>03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49" name="直接连接符 22"/>
            <p:cNvSpPr/>
            <p:nvPr/>
          </p:nvSpPr>
          <p:spPr>
            <a:xfrm>
              <a:off x="7271280" y="3654360"/>
              <a:ext cx="360" cy="56556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50" name="组合 44"/>
          <p:cNvGrpSpPr/>
          <p:nvPr/>
        </p:nvGrpSpPr>
        <p:grpSpPr>
          <a:xfrm>
            <a:off x="6541920" y="4674600"/>
            <a:ext cx="4537080" cy="729360"/>
            <a:chOff x="6541920" y="4674600"/>
            <a:chExt cx="4537080" cy="729360"/>
          </a:xfrm>
        </p:grpSpPr>
        <p:sp>
          <p:nvSpPr>
            <p:cNvPr id="151" name="文本框 45"/>
            <p:cNvSpPr/>
            <p:nvPr/>
          </p:nvSpPr>
          <p:spPr>
            <a:xfrm>
              <a:off x="7333560" y="4836600"/>
              <a:ext cx="374544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zh-CN" sz="2800" spc="-1" strike="noStrike">
                  <a:solidFill>
                    <a:srgbClr val="808080"/>
                  </a:solidFill>
                  <a:latin typeface="微软雅黑"/>
                  <a:ea typeface="微软雅黑"/>
                </a:rPr>
                <a:t>课题管理与风险分析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52" name="剪去对角的矩形 46"/>
            <p:cNvSpPr/>
            <p:nvPr/>
          </p:nvSpPr>
          <p:spPr>
            <a:xfrm>
              <a:off x="6541920" y="4820760"/>
              <a:ext cx="541800" cy="541800"/>
            </a:xfrm>
            <a:prstGeom prst="snip2DiagRect">
              <a:avLst>
                <a:gd name="adj1" fmla="val 0"/>
                <a:gd name="adj2" fmla="val 2487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3" name="文本框 47"/>
            <p:cNvSpPr/>
            <p:nvPr/>
          </p:nvSpPr>
          <p:spPr>
            <a:xfrm>
              <a:off x="6541920" y="4674600"/>
              <a:ext cx="579960" cy="72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  <a:ea typeface="微软雅黑"/>
                </a:rPr>
                <a:t>04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54" name="直接连接符 27"/>
            <p:cNvSpPr/>
            <p:nvPr/>
          </p:nvSpPr>
          <p:spPr>
            <a:xfrm>
              <a:off x="7272000" y="4811040"/>
              <a:ext cx="360" cy="56592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med" p14:dur="999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 txBox="1"/>
          <p:nvPr/>
        </p:nvSpPr>
        <p:spPr>
          <a:xfrm>
            <a:off x="669600" y="464400"/>
            <a:ext cx="10620000" cy="6480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t">
            <a:noAutofit/>
          </a:bodyPr>
          <a:p>
            <a:r>
              <a:rPr b="1" lang="zh-CN" sz="3200" spc="-1" strike="noStrike">
                <a:solidFill>
                  <a:srgbClr val="000000"/>
                </a:solidFill>
                <a:latin typeface="Microsoft YaHei"/>
              </a:rPr>
              <a:t>任务与指标完成情况</a:t>
            </a:r>
            <a:endParaRPr b="1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80000" y="1195200"/>
            <a:ext cx="11833200" cy="421200"/>
          </a:xfrm>
          <a:prstGeom prst="rect">
            <a:avLst/>
          </a:prstGeom>
          <a:solidFill>
            <a:srgbClr val="00b0f0"/>
          </a:solidFill>
          <a:ln w="25200">
            <a:solidFill>
              <a:srgbClr val="000000"/>
            </a:solidFill>
            <a:round/>
          </a:ln>
        </p:spPr>
        <p:txBody>
          <a:bodyPr lIns="41400" rIns="41400" tIns="23400" bIns="23400" anchor="ctr">
            <a:noAutofit/>
          </a:bodyPr>
          <a:p>
            <a:pPr algn="ctr">
              <a:buNone/>
            </a:pPr>
            <a:r>
              <a:rPr b="1" lang="zh-CN" sz="1800" spc="-1" strike="noStrike">
                <a:solidFill>
                  <a:srgbClr val="000000"/>
                </a:solidFill>
                <a:latin typeface="Microsoft YaHei"/>
              </a:rPr>
              <a:t>课题：具身智能系统控制逻辑漏洞挖掘技术研究</a:t>
            </a:r>
            <a:endParaRPr b="1" lang="en-US" sz="1800" spc="-1" strike="noStrike">
              <a:solidFill>
                <a:srgbClr val="000000"/>
              </a:solidFill>
              <a:latin typeface="Microsoft YaHei"/>
            </a:endParaRPr>
          </a:p>
        </p:txBody>
      </p:sp>
      <p:graphicFrame>
        <p:nvGraphicFramePr>
          <p:cNvPr id="157" name=""/>
          <p:cNvGraphicFramePr/>
          <p:nvPr/>
        </p:nvGraphicFramePr>
        <p:xfrm>
          <a:off x="180000" y="1555200"/>
          <a:ext cx="11833200" cy="4806000"/>
        </p:xfrm>
        <a:graphic>
          <a:graphicData uri="http://schemas.openxmlformats.org/drawingml/2006/table">
            <a:tbl>
              <a:tblPr/>
              <a:tblGrid>
                <a:gridCol w="1537200"/>
                <a:gridCol w="2365200"/>
                <a:gridCol w="2602800"/>
                <a:gridCol w="5328000"/>
              </a:tblGrid>
              <a:tr h="432000"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40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指标名称</a:t>
                      </a:r>
                      <a:endParaRPr b="1" lang="en-US" sz="140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40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原始基线 </a:t>
                      </a: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/ </a:t>
                      </a:r>
                      <a:r>
                        <a:rPr b="1" lang="zh-CN" sz="140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立项状态</a:t>
                      </a:r>
                      <a:endParaRPr b="1" lang="en-US" sz="140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40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开题完成要求</a:t>
                      </a:r>
                      <a:endParaRPr b="1" lang="en-US" sz="140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4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当前指标状态</a:t>
                      </a:r>
                      <a:endParaRPr b="1" lang="en-US" sz="1400" spc="-1" strike="noStrike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8000"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控制语义约束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不少于</a:t>
                      </a: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50</a:t>
                      </a: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条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少量目标专用手写 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Oracle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；缺少统一的多源规范处理和结构化中间表示。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提取的控制语义约束不少于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50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条。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达到数量规模。处理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425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个输入文件，形成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2749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个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SpecBlock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、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151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份现代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OracleIR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和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35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份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legacy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逻辑规格。逐条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IR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与在线话题、字段和函数的映射仍待固化。</a:t>
                      </a:r>
                      <a:endParaRPr b="0" lang="en-US" sz="1150" spc="-1" strike="noStrike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4800"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测试输入覆盖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四种类型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具备通用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ROS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消息变异和基础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Campaign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，尚未形成完整四维语义输入体系。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输入包含用户指令、传感器数据、控制参数和消息事件四类。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部分达到。用户指令较强，控制参数中等，持续、频率、顺序、模式切换等消息事件部分支持；传感器目前主要用于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Oracle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观测，专用连续扰动及通用延迟、丢包、乱序仍待补强。</a:t>
                      </a:r>
                      <a:endParaRPr b="0" lang="en-US" sz="1150" spc="-1" strike="noStrike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200"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语义相关变异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算子不少于</a:t>
                      </a: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类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以字段级随机或确定性变异为主，行为时间语义和物理耦合有限。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语义相关的变异算子不少于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类。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达到：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8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类。已形成多轴协同、方向翻转、持续块、边界推进、反转、轨迹弧、单点极值和回环八类跨目标策略；随机仅作探索兜底，算子级独立贡献仍需消融。</a:t>
                      </a:r>
                      <a:endParaRPr b="0" lang="en-US" sz="1150" spc="-1" strike="noStrike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8000"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偏轨判定与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场景回溯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具备基础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checker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、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rosbag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和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replay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能力，但控制语义和证据归并不足。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支持控制语义偏轨判定与场景回溯验证。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仿真侧达到。五类现代目标已建立运行时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Oracle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，并形成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rosbag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、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PX4 ULG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、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Gazebo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独立真值、输入恢复、离线复算和回放证据链；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Go2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、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ECO65-B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实物重复执行和虚实差分尚未开展。</a:t>
                      </a:r>
                      <a:endParaRPr b="0" lang="en-US" sz="1150" spc="-1" strike="noStrike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语义约束覆盖率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相对提升≥</a:t>
                      </a:r>
                      <a:r>
                        <a:rPr b="1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20%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尚无统一的语义约束覆盖率定义、分母和同预算对照流程。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相较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RoboFuzz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，控制语义约束覆盖率提升不少于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20%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待形成正式证据。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TB4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组合优化中唯一输入签名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629→842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（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+33.9%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），最高单一输入签名重复次数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156→21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（下降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86.5%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）。该结果不是语义约束覆盖率，也不是单变量消融。</a:t>
                      </a:r>
                      <a:endParaRPr b="0" lang="en-US" sz="1150" spc="-1" strike="noStrike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 lIns="90000" rIns="90000" tIns="45000" bIns="45000" anchor="ctr">
                      <a:noAutofit/>
                    </a:bodyPr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平台与漏洞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  <a:p>
                      <a:pPr algn="ctr">
                        <a:buNone/>
                      </a:pPr>
                      <a:r>
                        <a:rPr b="1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成果指标</a:t>
                      </a:r>
                      <a:endParaRPr b="1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无本人可核实的实物验证闭环和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CNVD/CNNVD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正式编号基线。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至少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2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类典型平台、未公开漏洞不少于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5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个，并获得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CNVD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或</a:t>
                      </a:r>
                      <a:r>
                        <a:rPr b="0" lang="en-US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CNNVD</a:t>
                      </a:r>
                      <a:r>
                        <a:rPr b="0" lang="zh-CN" sz="1150" spc="-1" strike="noStrike">
                          <a:solidFill>
                            <a:srgbClr val="000000"/>
                          </a:solidFill>
                          <a:latin typeface="Microsoft YaHei"/>
                        </a:rPr>
                        <a:t>编号。</a:t>
                      </a:r>
                      <a:endParaRPr b="0" lang="en-US" sz="1150" spc="-1" strike="noStrike">
                        <a:solidFill>
                          <a:srgbClr val="0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5000" bIns="45000" anchor="ctr">
                      <a:noAutofit/>
                    </a:bodyPr>
                    <a:p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待形成正式证据。截至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2026-09-17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共提交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34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条公开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Issue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，其中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22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条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Open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、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12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条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Closed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。</a:t>
                      </a:r>
                      <a:r>
                        <a:rPr b="0" lang="en-US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Issue</a:t>
                      </a:r>
                      <a:r>
                        <a:rPr b="0" lang="zh-CN" sz="115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不等于独立或确认漏洞；指定实物验证、未公开漏洞认定和正式编号尚未闭环。</a:t>
                      </a:r>
                      <a:endParaRPr b="0" lang="en-US" sz="1150" spc="-1" strike="noStrike">
                        <a:solidFill>
                          <a:srgbClr val="c00000"/>
                        </a:solidFill>
                        <a:latin typeface="Microsoft YaHei"/>
                      </a:endParaRPr>
                    </a:p>
                  </a:txBody>
                  <a:tcPr anchor="ctr" marL="90000" marR="90000">
                    <a:lnL w="25200">
                      <a:solidFill>
                        <a:srgbClr val="000000"/>
                      </a:solidFill>
                    </a:lnL>
                    <a:lnR w="25200">
                      <a:solidFill>
                        <a:srgbClr val="000000"/>
                      </a:solidFill>
                    </a:lnR>
                    <a:lnT w="25200">
                      <a:solidFill>
                        <a:srgbClr val="000000"/>
                      </a:solidFill>
                    </a:lnT>
                    <a:lnB w="252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8" name=""/>
          <p:cNvSpPr txBox="1"/>
          <p:nvPr/>
        </p:nvSpPr>
        <p:spPr>
          <a:xfrm>
            <a:off x="270000" y="6400800"/>
            <a:ext cx="11592000" cy="7520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ctr">
            <a:noAutofit/>
          </a:bodyPr>
          <a:p>
            <a:pPr algn="ctr">
              <a:buNone/>
            </a:pPr>
            <a:r>
              <a:rPr b="0" lang="zh-CN" sz="1100" spc="-1" strike="noStrike">
                <a:solidFill>
                  <a:srgbClr val="5f6b76"/>
                </a:solidFill>
                <a:latin typeface="Microsoft YaHei"/>
              </a:rPr>
              <a:t>统计截至</a:t>
            </a:r>
            <a:r>
              <a:rPr b="0" lang="en-US" sz="1100" spc="-1" strike="noStrike">
                <a:solidFill>
                  <a:srgbClr val="5f6b76"/>
                </a:solidFill>
                <a:latin typeface="Microsoft YaHei"/>
              </a:rPr>
              <a:t>2026-09-17</a:t>
            </a:r>
            <a:r>
              <a:rPr b="0" lang="zh-CN" sz="1100" spc="-1" strike="noStrike">
                <a:solidFill>
                  <a:srgbClr val="5f6b76"/>
                </a:solidFill>
                <a:latin typeface="Microsoft YaHei"/>
              </a:rPr>
              <a:t>；状态采用离散证据等级，不代表完成百分比。</a:t>
            </a:r>
            <a:r>
              <a:rPr b="0" lang="en-US" sz="1100" spc="-1" strike="noStrike">
                <a:solidFill>
                  <a:srgbClr val="5f6b76"/>
                </a:solidFill>
                <a:latin typeface="Microsoft YaHei"/>
              </a:rPr>
              <a:t>34 </a:t>
            </a:r>
            <a:r>
              <a:rPr b="0" lang="zh-CN" sz="1100" spc="-1" strike="noStrike">
                <a:solidFill>
                  <a:srgbClr val="5f6b76"/>
                </a:solidFill>
                <a:latin typeface="Microsoft YaHei"/>
              </a:rPr>
              <a:t>条 </a:t>
            </a:r>
            <a:r>
              <a:rPr b="0" lang="en-US" sz="1100" spc="-1" strike="noStrike">
                <a:solidFill>
                  <a:srgbClr val="5f6b76"/>
                </a:solidFill>
                <a:latin typeface="Microsoft YaHei"/>
              </a:rPr>
              <a:t>Issue </a:t>
            </a:r>
            <a:r>
              <a:rPr b="0" lang="zh-CN" sz="1100" spc="-1" strike="noStrike">
                <a:solidFill>
                  <a:srgbClr val="5f6b76"/>
                </a:solidFill>
                <a:latin typeface="Microsoft YaHei"/>
              </a:rPr>
              <a:t>不等于 </a:t>
            </a:r>
            <a:r>
              <a:rPr b="0" lang="en-US" sz="1100" spc="-1" strike="noStrike">
                <a:solidFill>
                  <a:srgbClr val="5f6b76"/>
                </a:solidFill>
                <a:latin typeface="Microsoft YaHei"/>
              </a:rPr>
              <a:t>34 </a:t>
            </a:r>
            <a:r>
              <a:rPr b="0" lang="zh-CN" sz="1100" spc="-1" strike="noStrike">
                <a:solidFill>
                  <a:srgbClr val="5f6b76"/>
                </a:solidFill>
                <a:latin typeface="Microsoft YaHei"/>
              </a:rPr>
              <a:t>个漏洞；</a:t>
            </a:r>
            <a:r>
              <a:rPr b="0" lang="en-US" sz="1100" spc="-1" strike="noStrike">
                <a:solidFill>
                  <a:srgbClr val="5f6b76"/>
                </a:solidFill>
                <a:latin typeface="Microsoft YaHei"/>
              </a:rPr>
              <a:t>SpecBlock</a:t>
            </a:r>
            <a:r>
              <a:rPr b="0" lang="zh-CN" sz="1100" spc="-1" strike="noStrike">
                <a:solidFill>
                  <a:srgbClr val="5f6b76"/>
                </a:solidFill>
                <a:latin typeface="Microsoft YaHei"/>
              </a:rPr>
              <a:t>和</a:t>
            </a:r>
            <a:r>
              <a:rPr b="0" lang="en-US" sz="1100" spc="-1" strike="noStrike">
                <a:solidFill>
                  <a:srgbClr val="5f6b76"/>
                </a:solidFill>
                <a:latin typeface="Microsoft YaHei"/>
              </a:rPr>
              <a:t>IR</a:t>
            </a:r>
            <a:r>
              <a:rPr b="0" lang="zh-CN" sz="1100" spc="-1" strike="noStrike">
                <a:solidFill>
                  <a:srgbClr val="5f6b76"/>
                </a:solidFill>
                <a:latin typeface="Microsoft YaHei"/>
              </a:rPr>
              <a:t>数量也不等于全部在线执行。</a:t>
            </a:r>
            <a:endParaRPr b="0" lang="en-US" sz="1100" spc="-1" strike="noStrike">
              <a:solidFill>
                <a:srgbClr val="5f6b76"/>
              </a:solidFill>
              <a:latin typeface="Microsoft YaHei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Num" idx="14"/>
          </p:nvPr>
        </p:nvSpPr>
        <p:spPr>
          <a:xfrm>
            <a:off x="9264960" y="64530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160" name="Rectangle 2"/>
          <p:cNvSpPr/>
          <p:nvPr/>
        </p:nvSpPr>
        <p:spPr>
          <a:xfrm>
            <a:off x="479520" y="692640"/>
            <a:ext cx="833076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3200" spc="-1" strike="noStrike">
                <a:solidFill>
                  <a:srgbClr val="ffffff"/>
                </a:solidFill>
                <a:latin typeface="微软雅黑"/>
                <a:ea typeface="微软雅黑"/>
              </a:rPr>
              <a:t>汇 报 提 纲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1" name="直接连接符 4"/>
          <p:cNvSpPr/>
          <p:nvPr/>
        </p:nvSpPr>
        <p:spPr>
          <a:xfrm>
            <a:off x="0" y="1304640"/>
            <a:ext cx="2562120" cy="360"/>
          </a:xfrm>
          <a:prstGeom prst="line">
            <a:avLst/>
          </a:prstGeom>
          <a:ln w="412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62" name="组合 2"/>
          <p:cNvGrpSpPr/>
          <p:nvPr/>
        </p:nvGrpSpPr>
        <p:grpSpPr>
          <a:xfrm>
            <a:off x="1143720" y="3464640"/>
            <a:ext cx="4537440" cy="729360"/>
            <a:chOff x="1143720" y="3464640"/>
            <a:chExt cx="4537440" cy="729360"/>
          </a:xfrm>
        </p:grpSpPr>
        <p:sp>
          <p:nvSpPr>
            <p:cNvPr id="163" name="文本框 3"/>
            <p:cNvSpPr/>
            <p:nvPr/>
          </p:nvSpPr>
          <p:spPr>
            <a:xfrm>
              <a:off x="1935720" y="3626640"/>
              <a:ext cx="374544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zh-CN" sz="2800" spc="-1" strike="noStrike">
                  <a:solidFill>
                    <a:srgbClr val="808080"/>
                  </a:solidFill>
                  <a:latin typeface="微软雅黑"/>
                  <a:ea typeface="微软雅黑"/>
                </a:rPr>
                <a:t>课题概况与研究内容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4" name="剪去对角的矩形 9"/>
            <p:cNvSpPr/>
            <p:nvPr/>
          </p:nvSpPr>
          <p:spPr>
            <a:xfrm>
              <a:off x="1143720" y="3610800"/>
              <a:ext cx="541800" cy="541800"/>
            </a:xfrm>
            <a:prstGeom prst="snip2DiagRect">
              <a:avLst>
                <a:gd name="adj1" fmla="val 0"/>
                <a:gd name="adj2" fmla="val 2487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5" name="文本框 12"/>
            <p:cNvSpPr/>
            <p:nvPr/>
          </p:nvSpPr>
          <p:spPr>
            <a:xfrm>
              <a:off x="1143720" y="3464640"/>
              <a:ext cx="579960" cy="72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  <a:ea typeface="微软雅黑"/>
                </a:rPr>
                <a:t>01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6" name="直接连接符 10"/>
            <p:cNvSpPr/>
            <p:nvPr/>
          </p:nvSpPr>
          <p:spPr>
            <a:xfrm>
              <a:off x="1873800" y="3601080"/>
              <a:ext cx="360" cy="56556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67" name="组合 34"/>
          <p:cNvGrpSpPr/>
          <p:nvPr/>
        </p:nvGrpSpPr>
        <p:grpSpPr>
          <a:xfrm>
            <a:off x="1143000" y="4626000"/>
            <a:ext cx="4537440" cy="729360"/>
            <a:chOff x="1143000" y="4626000"/>
            <a:chExt cx="4537440" cy="729360"/>
          </a:xfrm>
        </p:grpSpPr>
        <p:sp>
          <p:nvSpPr>
            <p:cNvPr id="168" name="文本框 35"/>
            <p:cNvSpPr/>
            <p:nvPr/>
          </p:nvSpPr>
          <p:spPr>
            <a:xfrm>
              <a:off x="1935000" y="4788000"/>
              <a:ext cx="374544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zh-CN" sz="2800" spc="-1" strike="noStrike">
                  <a:solidFill>
                    <a:srgbClr val="808080"/>
                  </a:solidFill>
                  <a:latin typeface="微软雅黑"/>
                  <a:ea typeface="微软雅黑"/>
                </a:rPr>
                <a:t>任务与指标完成情况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9" name="剪去对角的矩形 36"/>
            <p:cNvSpPr/>
            <p:nvPr/>
          </p:nvSpPr>
          <p:spPr>
            <a:xfrm>
              <a:off x="1143000" y="4772160"/>
              <a:ext cx="541800" cy="541800"/>
            </a:xfrm>
            <a:prstGeom prst="snip2DiagRect">
              <a:avLst>
                <a:gd name="adj1" fmla="val 0"/>
                <a:gd name="adj2" fmla="val 2487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0" name="文本框 37"/>
            <p:cNvSpPr/>
            <p:nvPr/>
          </p:nvSpPr>
          <p:spPr>
            <a:xfrm>
              <a:off x="1143000" y="4626000"/>
              <a:ext cx="579960" cy="72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  <a:ea typeface="微软雅黑"/>
                </a:rPr>
                <a:t>02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1" name="直接连接符 17"/>
            <p:cNvSpPr/>
            <p:nvPr/>
          </p:nvSpPr>
          <p:spPr>
            <a:xfrm>
              <a:off x="1873080" y="4762440"/>
              <a:ext cx="360" cy="56592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72" name="组合 39"/>
          <p:cNvGrpSpPr/>
          <p:nvPr/>
        </p:nvGrpSpPr>
        <p:grpSpPr>
          <a:xfrm>
            <a:off x="6541200" y="3517920"/>
            <a:ext cx="4537440" cy="729360"/>
            <a:chOff x="6541200" y="3517920"/>
            <a:chExt cx="4537440" cy="729360"/>
          </a:xfrm>
        </p:grpSpPr>
        <p:sp>
          <p:nvSpPr>
            <p:cNvPr id="173" name="文本框 40"/>
            <p:cNvSpPr/>
            <p:nvPr/>
          </p:nvSpPr>
          <p:spPr>
            <a:xfrm>
              <a:off x="7333200" y="3679920"/>
              <a:ext cx="374544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zh-CN" sz="2800" spc="-1" strike="noStrike">
                  <a:solidFill>
                    <a:srgbClr val="000000"/>
                  </a:solidFill>
                  <a:latin typeface="微软雅黑"/>
                  <a:ea typeface="微软雅黑"/>
                </a:rPr>
                <a:t>技术细节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4" name="剪去对角的矩形 41"/>
            <p:cNvSpPr/>
            <p:nvPr/>
          </p:nvSpPr>
          <p:spPr>
            <a:xfrm>
              <a:off x="6541200" y="3664080"/>
              <a:ext cx="541800" cy="541800"/>
            </a:xfrm>
            <a:prstGeom prst="snip2DiagRect">
              <a:avLst>
                <a:gd name="adj1" fmla="val 0"/>
                <a:gd name="adj2" fmla="val 2487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5" name="文本框 42"/>
            <p:cNvSpPr/>
            <p:nvPr/>
          </p:nvSpPr>
          <p:spPr>
            <a:xfrm>
              <a:off x="6541200" y="3517920"/>
              <a:ext cx="579960" cy="72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  <a:ea typeface="微软雅黑"/>
                </a:rPr>
                <a:t>03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6" name="直接连接符 22"/>
            <p:cNvSpPr/>
            <p:nvPr/>
          </p:nvSpPr>
          <p:spPr>
            <a:xfrm>
              <a:off x="7271280" y="3654360"/>
              <a:ext cx="360" cy="56556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77" name="组合 44"/>
          <p:cNvGrpSpPr/>
          <p:nvPr/>
        </p:nvGrpSpPr>
        <p:grpSpPr>
          <a:xfrm>
            <a:off x="6541920" y="4674600"/>
            <a:ext cx="4537080" cy="729360"/>
            <a:chOff x="6541920" y="4674600"/>
            <a:chExt cx="4537080" cy="729360"/>
          </a:xfrm>
        </p:grpSpPr>
        <p:sp>
          <p:nvSpPr>
            <p:cNvPr id="178" name="文本框 45"/>
            <p:cNvSpPr/>
            <p:nvPr/>
          </p:nvSpPr>
          <p:spPr>
            <a:xfrm>
              <a:off x="7333560" y="4836600"/>
              <a:ext cx="374544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zh-CN" sz="2800" spc="-1" strike="noStrike">
                  <a:solidFill>
                    <a:srgbClr val="808080"/>
                  </a:solidFill>
                  <a:latin typeface="微软雅黑"/>
                  <a:ea typeface="微软雅黑"/>
                </a:rPr>
                <a:t>课题管理与风险分析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9" name="剪去对角的矩形 46"/>
            <p:cNvSpPr/>
            <p:nvPr/>
          </p:nvSpPr>
          <p:spPr>
            <a:xfrm>
              <a:off x="6541920" y="4820760"/>
              <a:ext cx="541800" cy="541800"/>
            </a:xfrm>
            <a:prstGeom prst="snip2DiagRect">
              <a:avLst>
                <a:gd name="adj1" fmla="val 0"/>
                <a:gd name="adj2" fmla="val 2487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0" name="文本框 47"/>
            <p:cNvSpPr/>
            <p:nvPr/>
          </p:nvSpPr>
          <p:spPr>
            <a:xfrm>
              <a:off x="6541920" y="4674600"/>
              <a:ext cx="579960" cy="72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50000"/>
                </a:lnSpc>
                <a:buNone/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  <a:ea typeface="微软雅黑"/>
                </a:rPr>
                <a:t>04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1" name="直接连接符 27"/>
            <p:cNvSpPr/>
            <p:nvPr/>
          </p:nvSpPr>
          <p:spPr>
            <a:xfrm>
              <a:off x="7272000" y="4811040"/>
              <a:ext cx="360" cy="56592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med" p14:dur="999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 txBox="1"/>
          <p:nvPr/>
        </p:nvSpPr>
        <p:spPr>
          <a:xfrm>
            <a:off x="669600" y="464400"/>
            <a:ext cx="10728000" cy="6480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t">
            <a:noAutofit/>
          </a:bodyPr>
          <a:p>
            <a:r>
              <a:rPr b="1" lang="zh-CN" sz="3200" spc="-1" strike="noStrike">
                <a:solidFill>
                  <a:srgbClr val="000000"/>
                </a:solidFill>
                <a:latin typeface="Microsoft YaHei"/>
              </a:rPr>
              <a:t>三项重点技术任务与总体链路</a:t>
            </a:r>
            <a:endParaRPr b="1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676800" y="1314000"/>
            <a:ext cx="1522800" cy="597600"/>
          </a:xfrm>
          <a:prstGeom prst="rect">
            <a:avLst/>
          </a:prstGeom>
          <a:solidFill>
            <a:srgbClr val="ffffff"/>
          </a:solidFill>
          <a:ln w="25200">
            <a:solidFill>
              <a:srgbClr val="2d2d8a"/>
            </a:solidFill>
            <a:round/>
          </a:ln>
        </p:spPr>
        <p:txBody>
          <a:bodyPr lIns="41400" rIns="41400" tIns="23400" bIns="23400" anchor="ctr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主要难点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196000" y="1314000"/>
            <a:ext cx="9154800" cy="59760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2200" spc="-1" strike="noStrike">
                <a:solidFill>
                  <a:srgbClr val="c00000"/>
                </a:solidFill>
                <a:latin typeface="Microsoft YaHei"/>
              </a:rPr>
              <a:t>□ </a:t>
            </a:r>
            <a:r>
              <a:rPr b="1" lang="zh-CN" sz="2200" spc="-1" strike="noStrike">
                <a:solidFill>
                  <a:srgbClr val="000000"/>
                </a:solidFill>
                <a:latin typeface="Microsoft YaHei"/>
              </a:rPr>
              <a:t>正确行为难定义、稀疏异常路径难激活、非崩溃偏轨难验证。</a:t>
            </a:r>
            <a:endParaRPr b="1" lang="en-US" sz="2200" spc="-1" strike="noStrike">
              <a:solidFill>
                <a:srgbClr val="000000"/>
              </a:solidFill>
              <a:latin typeface="Microsoft YaHei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1126800" y="1854000"/>
            <a:ext cx="9936000" cy="33120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 txBox="1"/>
          <p:nvPr/>
        </p:nvSpPr>
        <p:spPr>
          <a:xfrm>
            <a:off x="676800" y="5238000"/>
            <a:ext cx="1263600" cy="1098000"/>
          </a:xfrm>
          <a:prstGeom prst="rect">
            <a:avLst/>
          </a:prstGeom>
          <a:solidFill>
            <a:srgbClr val="ffffff"/>
          </a:solidFill>
          <a:ln w="25200">
            <a:solidFill>
              <a:srgbClr val="2d2d8a"/>
            </a:solidFill>
            <a:round/>
          </a:ln>
        </p:spPr>
        <p:txBody>
          <a:bodyPr lIns="41400" rIns="41400" tIns="23400" bIns="23400" anchor="ctr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方 法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创 新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008800" y="5238000"/>
            <a:ext cx="9342000" cy="7520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□ 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先从系统规范中明确机器人在不同状态下应当怎样响应，再生成带控制语义的输入，并用仿真记录和回放结果确认异常。</a:t>
            </a:r>
            <a:endParaRPr b="1" lang="en-US" sz="16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2008800" y="5803200"/>
            <a:ext cx="9342000" cy="7520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□ 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验证阶段发现的问题会反过来补充规则、调整后续输入，使测试逐步逼近真正有价值的问题，而不只是增加轮次。</a:t>
            </a:r>
            <a:endParaRPr b="1" lang="en-US" sz="16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2008800" y="6400800"/>
            <a:ext cx="9342000" cy="7520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ctr">
            <a:noAutofit/>
          </a:bodyPr>
          <a:p>
            <a:r>
              <a:rPr b="0" lang="zh-CN" sz="1250" spc="-1" strike="noStrike">
                <a:solidFill>
                  <a:srgbClr val="5f6b76"/>
                </a:solidFill>
                <a:latin typeface="Microsoft YaHei"/>
              </a:rPr>
              <a:t>当前已形成跨目标仿真侧原型，不同目标成熟度不一；实物差分与正式漏洞编号为下一阶段。</a:t>
            </a:r>
            <a:endParaRPr b="0" lang="en-US" sz="1250" spc="-1" strike="noStrike">
              <a:solidFill>
                <a:srgbClr val="5f6b76"/>
              </a:solidFill>
              <a:latin typeface="Microsoft YaHei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 txBox="1"/>
          <p:nvPr/>
        </p:nvSpPr>
        <p:spPr>
          <a:xfrm>
            <a:off x="669600" y="464400"/>
            <a:ext cx="10728000" cy="68004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t">
            <a:noAutofit/>
          </a:bodyPr>
          <a:p>
            <a:r>
              <a:rPr b="1" lang="zh-CN" sz="3200" spc="-1" strike="noStrike">
                <a:solidFill>
                  <a:srgbClr val="000000"/>
                </a:solidFill>
                <a:latin typeface="Microsoft YaHei"/>
              </a:rPr>
              <a:t>任务一：规范驱动的语义约束提取与行为 </a:t>
            </a:r>
            <a:r>
              <a:rPr b="1" lang="en-US" sz="3200" spc="-1" strike="noStrike">
                <a:solidFill>
                  <a:srgbClr val="000000"/>
                </a:solidFill>
                <a:latin typeface="Microsoft YaHei"/>
              </a:rPr>
              <a:t>Oracle </a:t>
            </a:r>
            <a:r>
              <a:rPr b="1" lang="zh-CN" sz="3200" spc="-1" strike="noStrike">
                <a:solidFill>
                  <a:srgbClr val="000000"/>
                </a:solidFill>
                <a:latin typeface="Microsoft YaHei"/>
              </a:rPr>
              <a:t>构建</a:t>
            </a:r>
            <a:endParaRPr b="1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76800" y="1314000"/>
            <a:ext cx="1522800" cy="597600"/>
          </a:xfrm>
          <a:prstGeom prst="rect">
            <a:avLst/>
          </a:prstGeom>
          <a:solidFill>
            <a:srgbClr val="ffffff"/>
          </a:solidFill>
          <a:ln w="25200">
            <a:solidFill>
              <a:srgbClr val="2d2d8a"/>
            </a:solidFill>
            <a:round/>
          </a:ln>
        </p:spPr>
        <p:txBody>
          <a:bodyPr lIns="41400" rIns="41400" tIns="23400" bIns="23400" anchor="ctr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主要难点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196000" y="1314000"/>
            <a:ext cx="9154800" cy="59760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2200" spc="-1" strike="noStrike">
                <a:solidFill>
                  <a:srgbClr val="c00000"/>
                </a:solidFill>
                <a:latin typeface="Microsoft YaHei"/>
              </a:rPr>
              <a:t>□ </a:t>
            </a:r>
            <a:r>
              <a:rPr b="1" lang="zh-CN" sz="2200" spc="-1" strike="noStrike">
                <a:solidFill>
                  <a:srgbClr val="c00000"/>
                </a:solidFill>
                <a:latin typeface="Microsoft YaHei"/>
              </a:rPr>
              <a:t>建模难：</a:t>
            </a:r>
            <a:r>
              <a:rPr b="1" lang="zh-CN" sz="2200" spc="-1" strike="noStrike">
                <a:solidFill>
                  <a:srgbClr val="000000"/>
                </a:solidFill>
                <a:latin typeface="Microsoft YaHei"/>
              </a:rPr>
              <a:t>多源规范异构、跨模块约束隐含，难以形成可执行且可追溯的行为判据。</a:t>
            </a:r>
            <a:endParaRPr b="1" lang="en-US" sz="2200" spc="-1" strike="noStrike">
              <a:solidFill>
                <a:srgbClr val="000000"/>
              </a:solidFill>
              <a:latin typeface="Microsoft YaHei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1126800" y="1854000"/>
            <a:ext cx="9936000" cy="3312000"/>
          </a:xfrm>
          <a:prstGeom prst="rect">
            <a:avLst/>
          </a:prstGeom>
          <a:ln w="0">
            <a:noFill/>
          </a:ln>
        </p:spPr>
      </p:pic>
      <p:sp>
        <p:nvSpPr>
          <p:cNvPr id="194" name=""/>
          <p:cNvSpPr txBox="1"/>
          <p:nvPr/>
        </p:nvSpPr>
        <p:spPr>
          <a:xfrm>
            <a:off x="676800" y="5238000"/>
            <a:ext cx="1263600" cy="1098000"/>
          </a:xfrm>
          <a:prstGeom prst="rect">
            <a:avLst/>
          </a:prstGeom>
          <a:solidFill>
            <a:srgbClr val="ffffff"/>
          </a:solidFill>
          <a:ln w="25200">
            <a:solidFill>
              <a:srgbClr val="2d2d8a"/>
            </a:solidFill>
            <a:round/>
          </a:ln>
        </p:spPr>
        <p:txBody>
          <a:bodyPr lIns="41400" rIns="41400" tIns="23400" bIns="23400" anchor="ctr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方 法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创 新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2008800" y="5238000"/>
            <a:ext cx="9342000" cy="7520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□ 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先按文件类型分别处理 </a:t>
            </a:r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Launch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、</a:t>
            </a:r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YAML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、接口、源码和说明文档，把控制相关内容整理为可追溯的规范片段，再生成结构化约束。</a:t>
            </a:r>
            <a:endParaRPr b="1" lang="en-US" sz="16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2008800" y="5803200"/>
            <a:ext cx="9342000" cy="7520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□ 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生成 </a:t>
            </a:r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Oracle 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时核对字段、单位、状态和时间条件，并结合目标话题与状态机补足上下文，避免把模型输出直接当作判断代码。</a:t>
            </a:r>
            <a:endParaRPr b="1" lang="en-US" sz="16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2008800" y="6400800"/>
            <a:ext cx="93420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ctr">
            <a:noAutofit/>
          </a:bodyPr>
          <a:p>
            <a:r>
              <a:rPr b="0" lang="zh-CN" sz="1250" spc="-1" strike="noStrike">
                <a:solidFill>
                  <a:srgbClr val="5f6b76"/>
                </a:solidFill>
                <a:latin typeface="Microsoft YaHei"/>
              </a:rPr>
              <a:t>并非</a:t>
            </a:r>
            <a:r>
              <a:rPr b="0" lang="en-US" sz="1250" spc="-1" strike="noStrike">
                <a:solidFill>
                  <a:srgbClr val="5f6b76"/>
                </a:solidFill>
                <a:latin typeface="Microsoft YaHei"/>
              </a:rPr>
              <a:t>151</a:t>
            </a:r>
            <a:r>
              <a:rPr b="0" lang="zh-CN" sz="1250" spc="-1" strike="noStrike">
                <a:solidFill>
                  <a:srgbClr val="5f6b76"/>
                </a:solidFill>
                <a:latin typeface="Microsoft YaHei"/>
              </a:rPr>
              <a:t>份</a:t>
            </a:r>
            <a:r>
              <a:rPr b="0" lang="en-US" sz="1250" spc="-1" strike="noStrike">
                <a:solidFill>
                  <a:srgbClr val="5f6b76"/>
                </a:solidFill>
                <a:latin typeface="Microsoft YaHei"/>
              </a:rPr>
              <a:t>IR</a:t>
            </a:r>
            <a:r>
              <a:rPr b="0" lang="zh-CN" sz="1250" spc="-1" strike="noStrike">
                <a:solidFill>
                  <a:srgbClr val="5f6b76"/>
                </a:solidFill>
                <a:latin typeface="Microsoft YaHei"/>
              </a:rPr>
              <a:t>均已逐条在线执行；复杂约束仍需结合具体目标上下文。</a:t>
            </a:r>
            <a:endParaRPr b="0" lang="en-US" sz="1250" spc="-1" strike="noStrike">
              <a:solidFill>
                <a:srgbClr val="5f6b76"/>
              </a:solidFill>
              <a:latin typeface="Microsoft YaHei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 txBox="1"/>
          <p:nvPr/>
        </p:nvSpPr>
        <p:spPr>
          <a:xfrm>
            <a:off x="669600" y="464400"/>
            <a:ext cx="10728000" cy="6480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t">
            <a:noAutofit/>
          </a:bodyPr>
          <a:p>
            <a:r>
              <a:rPr b="1" lang="zh-CN" sz="3200" spc="-1" strike="noStrike">
                <a:solidFill>
                  <a:srgbClr val="000000"/>
                </a:solidFill>
                <a:latin typeface="Microsoft YaHei"/>
              </a:rPr>
              <a:t>任务二：基于语义反馈的扰动输入生成与种子调度</a:t>
            </a:r>
            <a:endParaRPr b="1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76800" y="1314000"/>
            <a:ext cx="1522800" cy="597600"/>
          </a:xfrm>
          <a:prstGeom prst="rect">
            <a:avLst/>
          </a:prstGeom>
          <a:solidFill>
            <a:srgbClr val="ffffff"/>
          </a:solidFill>
          <a:ln w="25200">
            <a:solidFill>
              <a:srgbClr val="2d2d8a"/>
            </a:solidFill>
            <a:round/>
          </a:ln>
        </p:spPr>
        <p:txBody>
          <a:bodyPr lIns="41400" rIns="41400" tIns="23400" bIns="23400" anchor="ctr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主要难点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196000" y="1314000"/>
            <a:ext cx="9154800" cy="59760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2200" spc="-1" strike="noStrike">
                <a:solidFill>
                  <a:srgbClr val="c00000"/>
                </a:solidFill>
                <a:latin typeface="Microsoft YaHei"/>
              </a:rPr>
              <a:t>□ </a:t>
            </a:r>
            <a:r>
              <a:rPr b="1" lang="zh-CN" sz="2200" spc="-1" strike="noStrike">
                <a:solidFill>
                  <a:srgbClr val="c00000"/>
                </a:solidFill>
                <a:latin typeface="Microsoft YaHei"/>
              </a:rPr>
              <a:t>激活难：</a:t>
            </a:r>
            <a:r>
              <a:rPr b="1" lang="zh-CN" sz="2200" spc="-1" strike="noStrike">
                <a:solidFill>
                  <a:srgbClr val="000000"/>
                </a:solidFill>
                <a:latin typeface="Microsoft YaHei"/>
              </a:rPr>
              <a:t>高维状态空间稀疏，单字段随机变异难以触发时序和物理耦合型异常。</a:t>
            </a:r>
            <a:endParaRPr b="1" lang="en-US" sz="2200" spc="-1" strike="noStrike">
              <a:solidFill>
                <a:srgbClr val="000000"/>
              </a:solidFill>
              <a:latin typeface="Microsoft YaHei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1126800" y="1854000"/>
            <a:ext cx="9936000" cy="3312000"/>
          </a:xfrm>
          <a:prstGeom prst="rect">
            <a:avLst/>
          </a:prstGeom>
          <a:ln w="0">
            <a:noFill/>
          </a:ln>
        </p:spPr>
      </p:pic>
      <p:sp>
        <p:nvSpPr>
          <p:cNvPr id="202" name=""/>
          <p:cNvSpPr txBox="1"/>
          <p:nvPr/>
        </p:nvSpPr>
        <p:spPr>
          <a:xfrm>
            <a:off x="676800" y="5238000"/>
            <a:ext cx="1263600" cy="1098000"/>
          </a:xfrm>
          <a:prstGeom prst="rect">
            <a:avLst/>
          </a:prstGeom>
          <a:solidFill>
            <a:srgbClr val="ffffff"/>
          </a:solidFill>
          <a:ln w="25200">
            <a:solidFill>
              <a:srgbClr val="2d2d8a"/>
            </a:solidFill>
            <a:round/>
          </a:ln>
        </p:spPr>
        <p:txBody>
          <a:bodyPr lIns="41400" rIns="41400" tIns="23400" bIns="23400" anchor="ctr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方 法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创 新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2008800" y="5238000"/>
            <a:ext cx="9342000" cy="7520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□ 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测试输入不再局限于修改一条消息的数值，而是根据真实控制过程组织连续操作，让机器人经历保持、转向、边界接近和状态切换。</a:t>
            </a:r>
            <a:endParaRPr b="1" lang="en-US" sz="16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008800" y="5803200"/>
            <a:ext cx="9342000" cy="7520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□ 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每轮结束后根据系统响应、任务结果和数据质量保留高价值种子，并抑制相似种子反复入队，使探索及时转向新的行为区域。</a:t>
            </a:r>
            <a:endParaRPr b="1" lang="en-US" sz="16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008800" y="6400800"/>
            <a:ext cx="93420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ctr">
            <a:noAutofit/>
          </a:bodyPr>
          <a:p>
            <a:r>
              <a:rPr b="0" lang="zh-CN" sz="1250" spc="-1" strike="noStrike">
                <a:solidFill>
                  <a:srgbClr val="5f6b76"/>
                </a:solidFill>
                <a:latin typeface="Microsoft YaHei"/>
              </a:rPr>
              <a:t>组合优化结果，不等同于语义约束覆盖率；</a:t>
            </a:r>
            <a:r>
              <a:rPr b="0" lang="en-US" sz="1250" spc="-1" strike="noStrike">
                <a:solidFill>
                  <a:srgbClr val="5f6b76"/>
                </a:solidFill>
                <a:latin typeface="Microsoft YaHei"/>
              </a:rPr>
              <a:t>TB4</a:t>
            </a:r>
            <a:r>
              <a:rPr b="0" lang="zh-CN" sz="1250" spc="-1" strike="noStrike">
                <a:solidFill>
                  <a:srgbClr val="5f6b76"/>
                </a:solidFill>
                <a:latin typeface="Microsoft YaHei"/>
              </a:rPr>
              <a:t>数据不能作为指标</a:t>
            </a:r>
            <a:r>
              <a:rPr b="0" lang="en-US" sz="1250" spc="-1" strike="noStrike">
                <a:solidFill>
                  <a:srgbClr val="5f6b76"/>
                </a:solidFill>
                <a:latin typeface="Microsoft YaHei"/>
              </a:rPr>
              <a:t>5</a:t>
            </a:r>
            <a:r>
              <a:rPr b="0" lang="zh-CN" sz="1250" spc="-1" strike="noStrike">
                <a:solidFill>
                  <a:srgbClr val="5f6b76"/>
                </a:solidFill>
                <a:latin typeface="Microsoft YaHei"/>
              </a:rPr>
              <a:t>的正式完成证据。</a:t>
            </a:r>
            <a:endParaRPr b="0" lang="en-US" sz="1250" spc="-1" strike="noStrike">
              <a:solidFill>
                <a:srgbClr val="5f6b76"/>
              </a:solidFill>
              <a:latin typeface="Microsoft YaHei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 txBox="1"/>
          <p:nvPr/>
        </p:nvSpPr>
        <p:spPr>
          <a:xfrm>
            <a:off x="669600" y="464400"/>
            <a:ext cx="10728000" cy="6480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t">
            <a:noAutofit/>
          </a:bodyPr>
          <a:p>
            <a:r>
              <a:rPr b="1" lang="zh-CN" sz="3200" spc="-1" strike="noStrike">
                <a:solidFill>
                  <a:srgbClr val="000000"/>
                </a:solidFill>
                <a:latin typeface="Microsoft YaHei"/>
              </a:rPr>
              <a:t>任务三：控制语义偏轨判定、证据回溯与根因归并</a:t>
            </a:r>
            <a:endParaRPr b="1" lang="en-US" sz="32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76800" y="1314000"/>
            <a:ext cx="1522800" cy="597600"/>
          </a:xfrm>
          <a:prstGeom prst="rect">
            <a:avLst/>
          </a:prstGeom>
          <a:solidFill>
            <a:srgbClr val="ffffff"/>
          </a:solidFill>
          <a:ln w="25200">
            <a:solidFill>
              <a:srgbClr val="2d2d8a"/>
            </a:solidFill>
            <a:round/>
          </a:ln>
        </p:spPr>
        <p:txBody>
          <a:bodyPr lIns="41400" rIns="41400" tIns="23400" bIns="23400" anchor="ctr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主要难点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196000" y="1314000"/>
            <a:ext cx="9154800" cy="59760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2200" spc="-1" strike="noStrike">
                <a:solidFill>
                  <a:srgbClr val="c00000"/>
                </a:solidFill>
                <a:latin typeface="Microsoft YaHei"/>
              </a:rPr>
              <a:t>□ </a:t>
            </a:r>
            <a:r>
              <a:rPr b="1" lang="zh-CN" sz="2200" spc="-1" strike="noStrike">
                <a:solidFill>
                  <a:srgbClr val="c00000"/>
                </a:solidFill>
                <a:latin typeface="Microsoft YaHei"/>
              </a:rPr>
              <a:t>判定难：</a:t>
            </a:r>
            <a:r>
              <a:rPr b="1" lang="zh-CN" sz="2200" spc="-1" strike="noStrike">
                <a:solidFill>
                  <a:srgbClr val="000000"/>
                </a:solidFill>
                <a:latin typeface="Microsoft YaHei"/>
              </a:rPr>
              <a:t>系统无崩溃、无错误码，异步多源观测和级联报警难以复现与归因。</a:t>
            </a:r>
            <a:endParaRPr b="1" lang="en-US" sz="2200" spc="-1" strike="noStrike">
              <a:solidFill>
                <a:srgbClr val="000000"/>
              </a:solidFill>
              <a:latin typeface="Microsoft YaHei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1126800" y="1854000"/>
            <a:ext cx="9936000" cy="3312000"/>
          </a:xfrm>
          <a:prstGeom prst="rect">
            <a:avLst/>
          </a:prstGeom>
          <a:ln w="0">
            <a:noFill/>
          </a:ln>
        </p:spPr>
      </p:pic>
      <p:sp>
        <p:nvSpPr>
          <p:cNvPr id="210" name=""/>
          <p:cNvSpPr txBox="1"/>
          <p:nvPr/>
        </p:nvSpPr>
        <p:spPr>
          <a:xfrm>
            <a:off x="676800" y="5238000"/>
            <a:ext cx="1263600" cy="1098000"/>
          </a:xfrm>
          <a:prstGeom prst="rect">
            <a:avLst/>
          </a:prstGeom>
          <a:solidFill>
            <a:srgbClr val="ffffff"/>
          </a:solidFill>
          <a:ln w="25200">
            <a:solidFill>
              <a:srgbClr val="2d2d8a"/>
            </a:solidFill>
            <a:round/>
          </a:ln>
        </p:spPr>
        <p:txBody>
          <a:bodyPr lIns="41400" rIns="41400" tIns="23400" bIns="23400" anchor="ctr">
            <a:noAutofit/>
          </a:bodyPr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方 法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  <a:p>
            <a:pPr algn="ctr">
              <a:buNone/>
            </a:pPr>
            <a:r>
              <a:rPr b="1" lang="zh-CN" sz="2400" spc="-1" strike="noStrike">
                <a:solidFill>
                  <a:srgbClr val="002060"/>
                </a:solidFill>
                <a:latin typeface="Microsoft YaHei"/>
              </a:rPr>
              <a:t>创 新</a:t>
            </a:r>
            <a:endParaRPr b="1" lang="en-US" sz="2400" spc="-1" strike="noStrike">
              <a:solidFill>
                <a:srgbClr val="002060"/>
              </a:solidFill>
              <a:latin typeface="Microsoft YaHei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008800" y="5238000"/>
            <a:ext cx="9342000" cy="7520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□ 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发现偏轨后，同时保存测试输入、运行话题、仿真真值和任务结果，再用离线复算或回放确认异常能否稳定复现。</a:t>
            </a:r>
            <a:endParaRPr b="1" lang="en-US" sz="16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2008800" y="5803200"/>
            <a:ext cx="9342000" cy="752040"/>
          </a:xfrm>
          <a:prstGeom prst="rect">
            <a:avLst/>
          </a:prstGeom>
          <a:solidFill>
            <a:srgbClr val="ffffff"/>
          </a:solidFill>
          <a:ln w="25200">
            <a:solidFill>
              <a:srgbClr val="002060"/>
            </a:solidFill>
            <a:custDash>
              <a:ds d="28571" sp="28571"/>
              <a:ds d="28571" sp="28571"/>
            </a:custDash>
            <a:round/>
          </a:ln>
        </p:spPr>
        <p:txBody>
          <a:bodyPr lIns="41400" rIns="41400" tIns="23400" bIns="23400" anchor="ctr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Microsoft YaHei"/>
              </a:rPr>
              <a:t>□ </a:t>
            </a:r>
            <a:r>
              <a:rPr b="1" lang="zh-CN" sz="1600" spc="-1" strike="noStrike">
                <a:solidFill>
                  <a:srgbClr val="000000"/>
                </a:solidFill>
                <a:latin typeface="Microsoft YaHei"/>
              </a:rPr>
              <a:t>结合触发输入、发生时刻和控制链关系判断多次异常是否同源，只保留证据完整、可稳定复现的问题用于分析和上报。</a:t>
            </a:r>
            <a:endParaRPr b="1" lang="en-US" sz="1600" spc="-1" strike="noStrike">
              <a:solidFill>
                <a:srgbClr val="000000"/>
              </a:solidFill>
              <a:latin typeface="Microsoft YaHei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2008800" y="6400800"/>
            <a:ext cx="9342000" cy="4212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10800" bIns="10800" anchor="ctr">
            <a:noAutofit/>
          </a:bodyPr>
          <a:p>
            <a:r>
              <a:rPr b="0" lang="zh-CN" sz="1250" spc="-1" strike="noStrike">
                <a:solidFill>
                  <a:srgbClr val="5f6b76"/>
                </a:solidFill>
                <a:latin typeface="Microsoft YaHei"/>
              </a:rPr>
              <a:t>当前完成仿真侧偏轨判定与回溯；实物验证、未公开漏洞认定和正式编号尚未闭环。</a:t>
            </a:r>
            <a:endParaRPr b="0" lang="en-US" sz="1250" spc="-1" strike="noStrike">
              <a:solidFill>
                <a:srgbClr val="5f6b76"/>
              </a:solidFill>
              <a:latin typeface="Microsoft YaHei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1816</Words>
  <Paragraphs>213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2026-09-17T12:51:53Z</dcterms:created>
  <dc:creator>Jiang Yu</dc:creator>
  <dc:description/>
  <dc:language>en-US</dc:language>
  <cp:lastModifiedBy/>
  <cp:lastPrinted>2026-09-17T12:51:53Z</cp:lastPrinted>
  <dcterms:modified xsi:type="dcterms:W3CDTF">2026-09-18T18:56:04Z</dcterms:modified>
  <cp:revision>7189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FAC76822D05A4E5FB01FD0ED4C63DD90_13</vt:lpwstr>
  </property>
  <property fmtid="{D5CDD505-2E9C-101B-9397-08002B2CF9AE}" pid="3" name="KSOProductBuildVer">
    <vt:lpwstr>2052-12.1.2.25882</vt:lpwstr>
  </property>
  <property fmtid="{D5CDD505-2E9C-101B-9397-08002B2CF9AE}" pid="4" name="Notes">
    <vt:i4>22</vt:i4>
  </property>
  <property fmtid="{D5CDD505-2E9C-101B-9397-08002B2CF9AE}" pid="5" name="PresentationFormat">
    <vt:lpwstr>宽屏</vt:lpwstr>
  </property>
  <property fmtid="{D5CDD505-2E9C-101B-9397-08002B2CF9AE}" pid="6" name="Slides">
    <vt:i4>8</vt:i4>
  </property>
</Properties>
</file>